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62" r:id="rId5"/>
    <p:sldId id="263" r:id="rId6"/>
    <p:sldId id="257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5433" y="2638425"/>
            <a:ext cx="906113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YOLOv8 Nesne Tespiti Projesi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90925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Staj Kapanış Sunumu — COCO Veri Setinden 5 Sınıf Eğitimi, Sınıf Dağılımı ve Gradio Arayüzü Entegrasyonu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52CFC4"/>
                </a:solidFill>
                <a:latin typeface="Aptos"/>
              </a:rPr>
              <a:t>01 / PLANLAMA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45720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A"/>
                </a:solidFill>
                <a:latin typeface="Aptos"/>
              </a:rPr>
              <a:t>Amaç ve Kapsam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5257800" cy="2743200"/>
          </a:xfrm>
          <a:prstGeom prst="roundRect">
            <a:avLst/>
          </a:prstGeom>
          <a:solidFill>
            <a:srgbClr val="1B283D"/>
          </a:solidFill>
          <a:ln w="1270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55080" y="1874519"/>
            <a:ext cx="5257800" cy="2743200"/>
          </a:xfrm>
          <a:prstGeom prst="roundRect">
            <a:avLst/>
          </a:prstGeom>
          <a:solidFill>
            <a:srgbClr val="1B283D"/>
          </a:solidFill>
          <a:ln w="1270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2176272"/>
            <a:ext cx="310896" cy="310896"/>
          </a:xfrm>
          <a:prstGeom prst="ellipse">
            <a:avLst/>
          </a:prstGeom>
          <a:noFill/>
          <a:ln w="2540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29400" y="2176272"/>
            <a:ext cx="310896" cy="310896"/>
          </a:xfrm>
          <a:prstGeom prst="ellipse">
            <a:avLst/>
          </a:prstGeom>
          <a:noFill/>
          <a:ln w="2540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33472"/>
            <a:ext cx="4389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A"/>
                </a:solidFill>
                <a:latin typeface="Aptos"/>
              </a:rPr>
              <a:t>Amaç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90672"/>
            <a:ext cx="4526280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dirty="0">
                <a:solidFill>
                  <a:srgbClr val="BECAD8"/>
                </a:solidFill>
                <a:latin typeface="Aptos"/>
              </a:rPr>
              <a:t>COCO 2017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veri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setinden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seçilen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nesne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sınıflarını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kullanarak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YOLOv8n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modeliyle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nesne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tespiti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gerçekleştirmek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ve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eğitilen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modeli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test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edilebilir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bir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arayüze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entegre</a:t>
            </a:r>
            <a:r>
              <a:rPr sz="12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BECAD8"/>
                </a:solidFill>
                <a:latin typeface="Aptos"/>
              </a:rPr>
              <a:t>etmek</a:t>
            </a:r>
            <a:r>
              <a:rPr sz="1250" b="0" dirty="0" smtClean="0">
                <a:solidFill>
                  <a:srgbClr val="BECAD8"/>
                </a:solidFill>
                <a:latin typeface="Aptos"/>
              </a:rPr>
              <a:t>.</a:t>
            </a:r>
            <a:endParaRPr lang="tr-TR" sz="1250" b="0" dirty="0" smtClean="0">
              <a:solidFill>
                <a:srgbClr val="BECAD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2633472"/>
            <a:ext cx="4389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A"/>
                </a:solidFill>
                <a:latin typeface="Aptos"/>
              </a:rPr>
              <a:t>Kapsam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90672"/>
            <a:ext cx="452628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BECAD8"/>
                </a:solidFill>
                <a:latin typeface="Aptos"/>
              </a:rPr>
              <a:t>Veri hazırlama ve temizleme, YOLO formatına dönüştürme, model eğitimi, mAP50 / Precision / Recall ile değerlendirme ve Gradio arayüzü ile test süreçlerini kapsamaktadır.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84048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52CFC4"/>
                </a:solidFill>
                <a:latin typeface="Aptos"/>
              </a:rPr>
              <a:t>01 / PLANLAMA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8229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F2F6FA"/>
                </a:solidFill>
                <a:latin typeface="Aptos"/>
              </a:rPr>
              <a:t>Veri Seti Sınıf Dağılımı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10634472" cy="1828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800600" cy="4434840"/>
          </a:xfrm>
          <a:prstGeom prst="roundRect">
            <a:avLst>
              <a:gd name="adj" fmla="val 4500"/>
            </a:avLst>
          </a:prstGeom>
          <a:solidFill>
            <a:srgbClr val="1B283D"/>
          </a:solidFill>
          <a:ln w="15875">
            <a:solidFill>
              <a:srgbClr val="46B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1" y="1874519"/>
            <a:ext cx="100584" cy="100584"/>
          </a:xfrm>
          <a:prstGeom prst="ellipse">
            <a:avLst/>
          </a:prstGeom>
          <a:noFill/>
          <a:ln w="1905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755648"/>
            <a:ext cx="4069080" cy="7863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F2F6FA"/>
                </a:solidFill>
                <a:latin typeface="Aptos"/>
              </a:rPr>
              <a:t>Kaynak: </a:t>
            </a:r>
            <a:r>
              <a:rPr sz="1150" b="0">
                <a:solidFill>
                  <a:srgbClr val="BECAD8"/>
                </a:solidFill>
                <a:latin typeface="Aptos"/>
              </a:rPr>
              <a:t>COCO 2017 veri seti, FiftyOne ile filtrelenerek oluşturuldu.</a:t>
            </a:r>
          </a:p>
        </p:txBody>
      </p:sp>
      <p:sp>
        <p:nvSpPr>
          <p:cNvPr id="8" name="Oval 7"/>
          <p:cNvSpPr/>
          <p:nvPr/>
        </p:nvSpPr>
        <p:spPr>
          <a:xfrm>
            <a:off x="1033271" y="2660903"/>
            <a:ext cx="100584" cy="100584"/>
          </a:xfrm>
          <a:prstGeom prst="ellipse">
            <a:avLst/>
          </a:prstGeom>
          <a:noFill/>
          <a:ln w="1905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2542032"/>
            <a:ext cx="4069080" cy="7863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F2F6FA"/>
                </a:solidFill>
                <a:latin typeface="Aptos"/>
              </a:rPr>
              <a:t>Sınıflar: </a:t>
            </a:r>
            <a:r>
              <a:rPr sz="1150" b="0">
                <a:solidFill>
                  <a:srgbClr val="BECAD8"/>
                </a:solidFill>
                <a:latin typeface="Aptos"/>
              </a:rPr>
              <a:t>Laptop, Klavye, Fare, Telefon, Şişe (5 sınıf).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3447287"/>
            <a:ext cx="100584" cy="100584"/>
          </a:xfrm>
          <a:prstGeom prst="ellipse">
            <a:avLst/>
          </a:prstGeom>
          <a:noFill/>
          <a:ln w="1905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328415"/>
            <a:ext cx="4069080" cy="7863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F2F6FA"/>
                </a:solidFill>
                <a:latin typeface="Aptos"/>
              </a:rPr>
              <a:t>Toplam Örnek: </a:t>
            </a:r>
            <a:r>
              <a:rPr sz="1150" b="0">
                <a:solidFill>
                  <a:srgbClr val="BECAD8"/>
                </a:solidFill>
                <a:latin typeface="Aptos"/>
              </a:rPr>
              <a:t>5 sınıfta toplam 7.558 adet nesne örneği.</a:t>
            </a:r>
          </a:p>
        </p:txBody>
      </p:sp>
      <p:sp>
        <p:nvSpPr>
          <p:cNvPr id="12" name="Oval 11"/>
          <p:cNvSpPr/>
          <p:nvPr/>
        </p:nvSpPr>
        <p:spPr>
          <a:xfrm>
            <a:off x="1033271" y="4233672"/>
            <a:ext cx="100584" cy="100584"/>
          </a:xfrm>
          <a:prstGeom prst="ellipse">
            <a:avLst/>
          </a:prstGeom>
          <a:noFill/>
          <a:ln w="1905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4114800"/>
            <a:ext cx="4069080" cy="7863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F2F6FA"/>
                </a:solidFill>
                <a:latin typeface="Aptos"/>
              </a:rPr>
              <a:t>Ön İşleme: </a:t>
            </a:r>
            <a:r>
              <a:rPr sz="1150" b="0">
                <a:solidFill>
                  <a:srgbClr val="BECAD8"/>
                </a:solidFill>
                <a:latin typeface="Aptos"/>
              </a:rPr>
              <a:t>YOLO formatına dönüştürme ve train / val ayrımı.</a:t>
            </a:r>
          </a:p>
        </p:txBody>
      </p:sp>
      <p:sp>
        <p:nvSpPr>
          <p:cNvPr id="14" name="Oval 13"/>
          <p:cNvSpPr/>
          <p:nvPr/>
        </p:nvSpPr>
        <p:spPr>
          <a:xfrm>
            <a:off x="1033271" y="5020056"/>
            <a:ext cx="100584" cy="100584"/>
          </a:xfrm>
          <a:prstGeom prst="ellipse">
            <a:avLst/>
          </a:prstGeom>
          <a:noFill/>
          <a:ln w="19050">
            <a:solidFill>
              <a:srgbClr val="00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4901184"/>
            <a:ext cx="4069080" cy="78638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F2F6FA"/>
                </a:solidFill>
                <a:latin typeface="Aptos"/>
              </a:rPr>
              <a:t>Dağılım Etkisi: </a:t>
            </a:r>
            <a:r>
              <a:rPr sz="1150" b="0">
                <a:solidFill>
                  <a:srgbClr val="BECAD8"/>
                </a:solidFill>
                <a:latin typeface="Aptos"/>
              </a:rPr>
              <a:t>Yoğun bottle ve cell phone örnekleri modele güçlü genelleme yeteneği kazandırır.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508760"/>
            <a:ext cx="5513832" cy="4434840"/>
          </a:xfrm>
          <a:prstGeom prst="roundRect">
            <a:avLst>
              <a:gd name="adj" fmla="val 4500"/>
            </a:avLst>
          </a:prstGeom>
          <a:solidFill>
            <a:srgbClr val="1B283D"/>
          </a:solidFill>
          <a:ln w="15875">
            <a:solidFill>
              <a:srgbClr val="46B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764792"/>
            <a:ext cx="487375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52CFC4"/>
                </a:solidFill>
                <a:latin typeface="Aptos"/>
              </a:rPr>
              <a:t>SINIF DAĞILIMI (7.558 ÖRNEK)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F2F6FA"/>
                </a:solidFill>
                <a:latin typeface="Aptos"/>
              </a:rPr>
              <a:t>Laptop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228600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27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60919" y="2286000"/>
            <a:ext cx="641947" cy="274320"/>
          </a:xfrm>
          <a:prstGeom prst="roundRect">
            <a:avLst>
              <a:gd name="adj" fmla="val 50000"/>
            </a:avLst>
          </a:prstGeom>
          <a:solidFill>
            <a:srgbClr val="52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78440" y="2286000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BECAD8"/>
                </a:solidFill>
                <a:latin typeface="Aptos"/>
              </a:rPr>
              <a:t>955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58084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F2F6FA"/>
                </a:solidFill>
                <a:latin typeface="Aptos"/>
              </a:rPr>
              <a:t>Klavye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2958084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27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60919" y="2958084"/>
            <a:ext cx="388529" cy="274320"/>
          </a:xfrm>
          <a:prstGeom prst="roundRect">
            <a:avLst>
              <a:gd name="adj" fmla="val 50000"/>
            </a:avLst>
          </a:prstGeom>
          <a:solidFill>
            <a:srgbClr val="52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78440" y="2958084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BECAD8"/>
                </a:solidFill>
                <a:latin typeface="Aptos"/>
              </a:rPr>
              <a:t>578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30168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F2F6FA"/>
                </a:solidFill>
                <a:latin typeface="Aptos"/>
              </a:rPr>
              <a:t>Fare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19" y="3630168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27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60919" y="3630168"/>
            <a:ext cx="298455" cy="274320"/>
          </a:xfrm>
          <a:prstGeom prst="roundRect">
            <a:avLst>
              <a:gd name="adj" fmla="val 50000"/>
            </a:avLst>
          </a:prstGeom>
          <a:solidFill>
            <a:srgbClr val="52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78440" y="3630168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BECAD8"/>
                </a:solidFill>
                <a:latin typeface="Aptos"/>
              </a:rPr>
              <a:t>444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02252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F2F6FA"/>
                </a:solidFill>
                <a:latin typeface="Aptos"/>
              </a:rPr>
              <a:t>Telefon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19" y="4302252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27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60919" y="4302252"/>
            <a:ext cx="871166" cy="274320"/>
          </a:xfrm>
          <a:prstGeom prst="roundRect">
            <a:avLst>
              <a:gd name="adj" fmla="val 50000"/>
            </a:avLst>
          </a:prstGeom>
          <a:solidFill>
            <a:srgbClr val="52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8440" y="4302252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BECAD8"/>
                </a:solidFill>
                <a:latin typeface="Aptos"/>
              </a:rPr>
              <a:t>1.296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974336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F2F6FA"/>
                </a:solidFill>
                <a:latin typeface="Aptos"/>
              </a:rPr>
              <a:t>Şişe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19" y="4974336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27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60919" y="4974336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52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78440" y="49743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>
                <a:solidFill>
                  <a:srgbClr val="BECAD8"/>
                </a:solidFill>
                <a:latin typeface="Aptos"/>
              </a:rPr>
              <a:t>4.285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3832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2CFC4"/>
                </a:solidFill>
                <a:latin typeface="Aptos"/>
              </a:rPr>
              <a:t>01 / PLANLAMA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54864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2F6FA"/>
                </a:solidFill>
                <a:latin typeface="Aptos"/>
              </a:rPr>
              <a:t>Proje Planı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37944"/>
            <a:ext cx="3063240" cy="1353312"/>
          </a:xfrm>
          <a:prstGeom prst="roundRect">
            <a:avLst/>
          </a:prstGeom>
          <a:solidFill>
            <a:srgbClr val="1B283D"/>
          </a:solidFill>
          <a:ln w="1016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205740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DA49A"/>
                </a:solidFill>
                <a:latin typeface="Segoe UI Symbol"/>
              </a:rPr>
              <a:t>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22576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chemeClr val="bg1"/>
                </a:solidFill>
                <a:latin typeface="Aptos"/>
              </a:rPr>
              <a:t>01.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Analiz</a:t>
            </a:r>
            <a:r>
              <a:rPr sz="1350" b="1" dirty="0">
                <a:solidFill>
                  <a:schemeClr val="bg1"/>
                </a:solidFill>
                <a:latin typeface="Aptos"/>
              </a:rPr>
              <a:t> &amp;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İş</a:t>
            </a:r>
            <a:r>
              <a:rPr sz="135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Anlama</a:t>
            </a:r>
            <a:endParaRPr sz="13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267004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BECAD8"/>
                </a:solidFill>
                <a:latin typeface="Aptos"/>
              </a:rPr>
              <a:t>COCO 2017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veri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setinden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hedeflenen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5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sınıfın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(laptop,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klavye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, fare,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telefon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şişe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)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analizi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3048" y="1828800"/>
            <a:ext cx="3063240" cy="1353312"/>
          </a:xfrm>
          <a:prstGeom prst="roundRect">
            <a:avLst/>
          </a:prstGeom>
          <a:solidFill>
            <a:srgbClr val="1B283D"/>
          </a:solidFill>
          <a:ln w="1016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41648" y="205740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DA49A"/>
                </a:solidFill>
                <a:latin typeface="Segoe UI Symbol"/>
              </a:rP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322576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chemeClr val="bg1"/>
                </a:solidFill>
                <a:latin typeface="Aptos"/>
              </a:rPr>
              <a:t>02.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Veri</a:t>
            </a:r>
            <a:r>
              <a:rPr sz="135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Temizleme</a:t>
            </a:r>
            <a:endParaRPr sz="13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41648" y="267004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BECAD8"/>
                </a:solidFill>
                <a:latin typeface="Aptos"/>
              </a:rPr>
              <a:t>FiftyOne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ile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verilerin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çekilmesi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, YOLO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formatına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dönüştürülmesi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ve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train/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val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ayrıştırılmasının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BECAD8"/>
                </a:solidFill>
                <a:latin typeface="Aptos"/>
              </a:rPr>
              <a:t>yapılması</a:t>
            </a:r>
            <a:r>
              <a:rPr sz="1050" b="0" dirty="0">
                <a:solidFill>
                  <a:srgbClr val="BECAD8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4304" y="1787746"/>
            <a:ext cx="3063240" cy="1554480"/>
          </a:xfrm>
          <a:prstGeom prst="roundRect">
            <a:avLst/>
          </a:prstGeom>
          <a:solidFill>
            <a:srgbClr val="1B283D"/>
          </a:solidFill>
          <a:ln w="1016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2904" y="205740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DA49A"/>
                </a:solidFill>
                <a:latin typeface="Segoe UI Symbol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2904" y="2322576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chemeClr val="bg1"/>
                </a:solidFill>
                <a:latin typeface="Aptos"/>
              </a:rPr>
              <a:t>03.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Modelin</a:t>
            </a:r>
            <a:r>
              <a:rPr sz="135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Eğitimi</a:t>
            </a:r>
            <a:endParaRPr sz="13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32904" y="267004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dirty="0">
                <a:solidFill>
                  <a:srgbClr val="BECAD8"/>
                </a:solidFill>
                <a:latin typeface="Aptos"/>
              </a:rPr>
              <a:t>Google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Colab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T4 GPU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üzerinde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YOLOv8n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mimarisiyle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50 epoch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eğitim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gerçekleştirilmesi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ve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best.pt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çıktısının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BECAD8"/>
                </a:solidFill>
                <a:latin typeface="Aptos"/>
              </a:rPr>
              <a:t>alınması</a:t>
            </a:r>
            <a:r>
              <a:rPr sz="950" b="0" dirty="0">
                <a:solidFill>
                  <a:srgbClr val="BECAD8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4663440" cy="1353312"/>
          </a:xfrm>
          <a:prstGeom prst="roundRect">
            <a:avLst/>
          </a:prstGeom>
          <a:solidFill>
            <a:srgbClr val="1B283D"/>
          </a:solidFill>
          <a:ln w="1016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61188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DA49A"/>
                </a:solidFill>
                <a:latin typeface="Segoe UI Symbol"/>
              </a:rPr>
              <a:t>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87705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chemeClr val="bg1"/>
                </a:solidFill>
                <a:latin typeface="Aptos"/>
              </a:rPr>
              <a:t>04. Model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Karşılaştırma</a:t>
            </a:r>
            <a:r>
              <a:rPr sz="1350" b="1" dirty="0">
                <a:solidFill>
                  <a:schemeClr val="bg1"/>
                </a:solidFill>
                <a:latin typeface="Aptos"/>
              </a:rPr>
              <a:t> &amp;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Değerlendirme</a:t>
            </a:r>
            <a:endParaRPr sz="13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4224528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ECAD8"/>
                </a:solidFill>
                <a:latin typeface="Aptos"/>
              </a:rPr>
              <a:t>mAP50, Precision ve Recall metriklerinin analizi, doğruluk oranlarının yorumlanması.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1536" y="3383280"/>
            <a:ext cx="4636008" cy="1353312"/>
          </a:xfrm>
          <a:prstGeom prst="roundRect">
            <a:avLst/>
          </a:prstGeom>
          <a:solidFill>
            <a:srgbClr val="1B283D"/>
          </a:solidFill>
          <a:ln w="1016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0136" y="361188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DA49A"/>
                </a:solidFill>
                <a:latin typeface="Segoe UI Symbol"/>
              </a:rPr>
              <a:t>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0136" y="3877056"/>
            <a:ext cx="4178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chemeClr val="bg1"/>
                </a:solidFill>
                <a:latin typeface="Aptos"/>
              </a:rPr>
              <a:t>05. </a:t>
            </a:r>
            <a:r>
              <a:rPr sz="1350" b="1" dirty="0" err="1">
                <a:solidFill>
                  <a:schemeClr val="bg1"/>
                </a:solidFill>
                <a:latin typeface="Aptos"/>
              </a:rPr>
              <a:t>Dokümantasyon</a:t>
            </a:r>
            <a:endParaRPr sz="13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0136" y="4224528"/>
            <a:ext cx="41788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ECAD8"/>
                </a:solidFill>
                <a:latin typeface="Aptos"/>
              </a:rPr>
              <a:t>Eğitim grafiklerinin, confusion matrix çıktılarının ve Gradio front-end arayüz test raporlarının hazırlanması.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38328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2CFC4"/>
                </a:solidFill>
                <a:latin typeface="Aptos"/>
              </a:rPr>
              <a:t>02 / TAKVİM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54864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2F6FA"/>
                </a:solidFill>
                <a:latin typeface="Aptos"/>
              </a:rPr>
              <a:t>Zaman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1" y="2212847"/>
            <a:ext cx="9646921" cy="3441503"/>
          </a:xfrm>
          <a:prstGeom prst="rect">
            <a:avLst/>
          </a:prstGeom>
          <a:solidFill>
            <a:srgbClr val="1B283D"/>
          </a:solidFill>
          <a:ln w="11430">
            <a:solidFill>
              <a:srgbClr val="46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1" y="2222305"/>
            <a:ext cx="9646920" cy="393192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2322576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ECAD8"/>
                </a:solidFill>
                <a:latin typeface="Aptos"/>
              </a:rPr>
              <a:t>Faaliyet /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6323" y="2322576"/>
            <a:ext cx="55143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 err="1">
                <a:latin typeface="Aptos"/>
              </a:rPr>
              <a:t>Perşembe</a:t>
            </a:r>
            <a:endParaRPr sz="900" b="1" dirty="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4859" y="2322576"/>
            <a:ext cx="32060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 err="1">
                <a:latin typeface="Aptos"/>
              </a:rPr>
              <a:t>Cuma</a:t>
            </a:r>
            <a:endParaRPr sz="900" b="1" dirty="0"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53565" y="2322576"/>
            <a:ext cx="5065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 err="1">
                <a:latin typeface="Aptos"/>
              </a:rPr>
              <a:t>Pazartesi</a:t>
            </a:r>
            <a:endParaRPr sz="900" b="1" dirty="0"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" y="2688336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ECAD8"/>
                </a:solidFill>
                <a:latin typeface="Aptos"/>
              </a:rPr>
              <a:t>1. Adım: Analiz &amp; İş 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314699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BECAD8"/>
                </a:solidFill>
                <a:latin typeface="Aptos"/>
              </a:rPr>
              <a:t>2.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Adım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: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Veri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Temizleme</a:t>
            </a:r>
            <a:endParaRPr sz="900" b="1" dirty="0">
              <a:solidFill>
                <a:srgbClr val="BECAD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656" y="4000872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BECAD8"/>
                </a:solidFill>
                <a:latin typeface="Aptos"/>
              </a:rPr>
              <a:t>3.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Adım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: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Modelin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Eğitimi</a:t>
            </a:r>
            <a:endParaRPr sz="900" b="1" dirty="0">
              <a:solidFill>
                <a:srgbClr val="BECAD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4617719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BECAD8"/>
                </a:solidFill>
                <a:latin typeface="Aptos"/>
              </a:rPr>
              <a:t>4.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Adım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: Model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Karşılaştırma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ve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Değerlendirme</a:t>
            </a:r>
            <a:endParaRPr sz="900" b="1" dirty="0">
              <a:solidFill>
                <a:srgbClr val="BECAD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" y="5216651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BECAD8"/>
                </a:solidFill>
                <a:latin typeface="Aptos"/>
              </a:rPr>
              <a:t>5.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Adım</a:t>
            </a:r>
            <a:r>
              <a:rPr sz="900" b="1" dirty="0">
                <a:solidFill>
                  <a:srgbClr val="BECAD8"/>
                </a:solidFill>
                <a:latin typeface="Aptos"/>
              </a:rPr>
              <a:t>: </a:t>
            </a:r>
            <a:r>
              <a:rPr sz="900" b="1" dirty="0" err="1">
                <a:solidFill>
                  <a:srgbClr val="BECAD8"/>
                </a:solidFill>
                <a:latin typeface="Aptos"/>
              </a:rPr>
              <a:t>Dokümantasyon</a:t>
            </a:r>
            <a:endParaRPr sz="900" b="1" dirty="0">
              <a:solidFill>
                <a:srgbClr val="BECAD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2761488"/>
            <a:ext cx="804672" cy="210312"/>
          </a:xfrm>
          <a:prstGeom prst="roundRect">
            <a:avLst/>
          </a:prstGeom>
          <a:solidFill>
            <a:srgbClr val="2BC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75803" y="3300050"/>
            <a:ext cx="1506335" cy="258304"/>
          </a:xfrm>
          <a:prstGeom prst="roundRect">
            <a:avLst/>
          </a:prstGeom>
          <a:solidFill>
            <a:srgbClr val="39B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0840" y="3831100"/>
            <a:ext cx="1892061" cy="339543"/>
          </a:xfrm>
          <a:prstGeom prst="roundRect">
            <a:avLst/>
          </a:prstGeom>
          <a:solidFill>
            <a:srgbClr val="7A8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 flipV="1">
            <a:off x="7305869" y="4603346"/>
            <a:ext cx="2435290" cy="305985"/>
          </a:xfrm>
          <a:prstGeom prst="roundRect">
            <a:avLst/>
          </a:prstGeom>
          <a:solidFill>
            <a:srgbClr val="B77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47983" y="5126438"/>
            <a:ext cx="1620728" cy="310804"/>
          </a:xfrm>
          <a:prstGeom prst="roundRect">
            <a:avLst/>
          </a:prstGeom>
          <a:solidFill>
            <a:srgbClr val="F4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84048"/>
            <a:ext cx="102412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7FA"/>
                </a:solidFill>
                <a:latin typeface="Aptos"/>
              </a:rPr>
              <a:t>Çözüm Diyagramı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51560"/>
            <a:ext cx="9921240" cy="18288"/>
          </a:xfrm>
          <a:prstGeom prst="rect">
            <a:avLst/>
          </a:prstGeom>
          <a:solidFill>
            <a:srgbClr val="32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874519" cy="1645920"/>
          </a:xfrm>
          <a:prstGeom prst="roundRect">
            <a:avLst/>
          </a:prstGeom>
          <a:solidFill>
            <a:srgbClr val="121F33"/>
          </a:solidFill>
          <a:ln w="15240">
            <a:solidFill>
              <a:srgbClr val="425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1554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0D6C0"/>
                </a:solidFill>
                <a:latin typeface="Aptos"/>
              </a:rPr>
              <a:t>GÖRSEL GİRDİSİ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52928"/>
            <a:ext cx="15544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AD3DE"/>
                </a:solidFill>
                <a:latin typeface="Aptos"/>
              </a:rPr>
              <a:t>Test görseli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AD3DE"/>
                </a:solidFill>
                <a:latin typeface="Aptos"/>
              </a:rPr>
              <a:t>veya yeni görüntü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08760"/>
            <a:ext cx="4892040" cy="4160520"/>
          </a:xfrm>
          <a:prstGeom prst="roundRect">
            <a:avLst/>
          </a:prstGeom>
          <a:solidFill>
            <a:srgbClr val="1C283B"/>
          </a:solidFill>
          <a:ln w="15240">
            <a:solidFill>
              <a:srgbClr val="516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719072"/>
            <a:ext cx="45262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7F9"/>
                </a:solidFill>
                <a:latin typeface="Aptos"/>
              </a:rPr>
              <a:t>BACK-END SERVİS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03120"/>
            <a:ext cx="45262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0D6C0"/>
                </a:solidFill>
                <a:latin typeface="Aptos"/>
              </a:rPr>
              <a:t>YOLOv8n Nesne Tespiti Servisi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542032"/>
            <a:ext cx="4160520" cy="685800"/>
          </a:xfrm>
          <a:prstGeom prst="roundRect">
            <a:avLst/>
          </a:prstGeom>
          <a:solidFill>
            <a:srgbClr val="133137"/>
          </a:solidFill>
          <a:ln w="15240">
            <a:solidFill>
              <a:srgbClr val="46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8" y="2660904"/>
            <a:ext cx="384048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0F5F7"/>
                </a:solidFill>
                <a:latin typeface="Aptos"/>
              </a:rPr>
              <a:t>1 • Veri Ön İşleme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944368"/>
            <a:ext cx="38404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C3CFD9"/>
                </a:solidFill>
                <a:latin typeface="Aptos"/>
              </a:rPr>
              <a:t>Görüntü boyutu / format kontrolü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39512" y="3227832"/>
            <a:ext cx="0" cy="265176"/>
          </a:xfrm>
          <a:prstGeom prst="line">
            <a:avLst/>
          </a:prstGeom>
          <a:ln w="27940">
            <a:solidFill>
              <a:srgbClr val="30D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54680" y="3520440"/>
            <a:ext cx="4160520" cy="685800"/>
          </a:xfrm>
          <a:prstGeom prst="roundRect">
            <a:avLst/>
          </a:prstGeom>
          <a:solidFill>
            <a:srgbClr val="133137"/>
          </a:solidFill>
          <a:ln w="15240">
            <a:solidFill>
              <a:srgbClr val="46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0128" y="3639312"/>
            <a:ext cx="384048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0F5F7"/>
                </a:solidFill>
                <a:latin typeface="Aptos"/>
              </a:rPr>
              <a:t>2 • Model Çıkarımı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22776"/>
            <a:ext cx="38404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C3CFD9"/>
                </a:solidFill>
                <a:latin typeface="Aptos"/>
              </a:rPr>
              <a:t>YOLOv8n ile nesne tespiti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39512" y="4206240"/>
            <a:ext cx="0" cy="265176"/>
          </a:xfrm>
          <a:prstGeom prst="line">
            <a:avLst/>
          </a:prstGeom>
          <a:ln w="27940">
            <a:solidFill>
              <a:srgbClr val="30D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54680" y="4498848"/>
            <a:ext cx="4160520" cy="685800"/>
          </a:xfrm>
          <a:prstGeom prst="roundRect">
            <a:avLst/>
          </a:prstGeom>
          <a:solidFill>
            <a:srgbClr val="133137"/>
          </a:solidFill>
          <a:ln w="15240">
            <a:solidFill>
              <a:srgbClr val="46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4617720"/>
            <a:ext cx="384048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0F5F7"/>
                </a:solidFill>
                <a:latin typeface="Aptos"/>
              </a:rPr>
              <a:t>3 • Tespit Sonuçları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901184"/>
            <a:ext cx="384048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C3CFD9"/>
                </a:solidFill>
                <a:latin typeface="Aptos"/>
              </a:rPr>
              <a:t>Sınıf, güven skoru ve kutular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2148840"/>
            <a:ext cx="1874519" cy="1645920"/>
          </a:xfrm>
          <a:prstGeom prst="roundRect">
            <a:avLst/>
          </a:prstGeom>
          <a:solidFill>
            <a:srgbClr val="121F33"/>
          </a:solidFill>
          <a:ln w="15240">
            <a:solidFill>
              <a:srgbClr val="425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29016" y="2395728"/>
            <a:ext cx="157276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0D6C0"/>
                </a:solidFill>
                <a:latin typeface="Aptos"/>
              </a:rPr>
              <a:t>GRADIO ARAYÜZÜ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852928"/>
            <a:ext cx="1572768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AD3DE"/>
                </a:solidFill>
                <a:latin typeface="Aptos"/>
              </a:rPr>
              <a:t>Tespit edilen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AD3DE"/>
                </a:solidFill>
                <a:latin typeface="Aptos"/>
              </a:rPr>
              <a:t>nesnelerin gösterimi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7168" y="2971800"/>
            <a:ext cx="283464" cy="0"/>
          </a:xfrm>
          <a:prstGeom prst="line">
            <a:avLst/>
          </a:prstGeom>
          <a:ln w="27940">
            <a:solidFill>
              <a:srgbClr val="30D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99248" y="2971800"/>
            <a:ext cx="246888" cy="0"/>
          </a:xfrm>
          <a:prstGeom prst="line">
            <a:avLst/>
          </a:prstGeom>
          <a:ln w="27940">
            <a:solidFill>
              <a:srgbClr val="30D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4572000"/>
            <a:ext cx="1874519" cy="1078992"/>
          </a:xfrm>
          <a:prstGeom prst="roundRect">
            <a:avLst/>
          </a:prstGeom>
          <a:solidFill>
            <a:srgbClr val="0E192C"/>
          </a:solidFill>
          <a:ln w="15240">
            <a:solidFill>
              <a:srgbClr val="39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736592"/>
            <a:ext cx="155448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30D6C0"/>
                </a:solidFill>
                <a:latin typeface="Aptos"/>
              </a:rPr>
              <a:t>EĞİTİM KAYNAĞI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065776"/>
            <a:ext cx="1554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AD3DE"/>
                </a:solidFill>
                <a:latin typeface="Aptos"/>
              </a:rPr>
              <a:t>COCO 2017 • FiftyOne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AD3DE"/>
                </a:solidFill>
                <a:latin typeface="Aptos"/>
              </a:rPr>
              <a:t>50 epoch • T4 GPU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87168" y="5074920"/>
            <a:ext cx="283464" cy="0"/>
          </a:xfrm>
          <a:prstGeom prst="line">
            <a:avLst/>
          </a:prstGeom>
          <a:ln w="27940">
            <a:solidFill>
              <a:srgbClr val="30D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5925312"/>
            <a:ext cx="9692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6A5B5"/>
                </a:solidFill>
                <a:latin typeface="Aptos"/>
              </a:rPr>
              <a:t>Girdi → Ön İşleme → YOLOv8n → Tespit Sonuçları → Gradio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57462"/>
            <a:ext cx="5324475" cy="30384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2566987"/>
          <a:ext cx="5305423" cy="301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D4BF"/>
                          </a:solidFill>
                          <a:latin typeface="Plus Jakarta Sans SemiBold"/>
                        </a:rPr>
                        <a:t>Sınıf / Kategori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D4BF"/>
                          </a:solidFill>
                          <a:latin typeface="Plus Jakarta Sans SemiBold"/>
                        </a:rPr>
                        <a:t>Instances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D4BF"/>
                          </a:solidFill>
                          <a:latin typeface="Plus Jakarta Sans SemiBold"/>
                        </a:rPr>
                        <a:t>mAP50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laptop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955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0.741 (Yüksek)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cell phone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1,296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0.682 (İyi)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keyboard / mouse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578 / 444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0.548 / 0.582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23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bottle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4,285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0.536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2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Genel Ortalama (all)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7,558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0.578 mAP50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3057525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2588" y="3057525"/>
            <a:ext cx="1317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70164" y="3057525"/>
            <a:ext cx="17258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2250" y="3033712"/>
            <a:ext cx="5038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ECAD8"/>
                </a:solidFill>
                <a:latin typeface="Plus Jakarta Sans"/>
              </a:rPr>
              <a:t>Yüksek Kesinlik (Precision):</a:t>
            </a:r>
            <a:r>
              <a:rPr sz="1350" b="0" i="0" u="none">
                <a:solidFill>
                  <a:srgbClr val="BECAD8"/>
                </a:solidFill>
                <a:latin typeface="Plus Jakarta Sans"/>
              </a:rPr>
              <a:t> %70.1 oranında başarılı ve doğru tahmin skoru.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690937"/>
            <a:ext cx="5038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ECAD8"/>
                </a:solidFill>
                <a:latin typeface="Plus Jakarta Sans"/>
              </a:rPr>
              <a:t>Veri Dağılımı Etkisi:</a:t>
            </a:r>
            <a:r>
              <a:rPr sz="1350" b="0" i="0" u="none">
                <a:solidFill>
                  <a:srgbClr val="BECAD8"/>
                </a:solidFill>
                <a:latin typeface="Plus Jakarta Sans"/>
              </a:rPr>
              <a:t> Yoğun bottle ve cell phone örnekleri modele güçlü genelleme yeteneği kazandırmıştır.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348162"/>
            <a:ext cx="5038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ECAD8"/>
                </a:solidFill>
                <a:latin typeface="Plus Jakarta Sans"/>
              </a:rPr>
              <a:t>İyileştirme Önerisi:</a:t>
            </a:r>
            <a:r>
              <a:rPr sz="1350" b="0" i="0" u="none">
                <a:solidFill>
                  <a:srgbClr val="BECAD8"/>
                </a:solidFill>
                <a:latin typeface="Plus Jakarta Sans"/>
              </a:rPr>
              <a:t> Epoch sayısının artırılması ve küçük nesneler için veri artırma (augmentation) uygulanması mAP oranını daha da yukarı taşıyacaktır.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3562350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52588" y="3562350"/>
            <a:ext cx="1317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70164" y="3562350"/>
            <a:ext cx="17258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4067175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52588" y="4067175"/>
            <a:ext cx="1317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70164" y="4067175"/>
            <a:ext cx="17258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572000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52588" y="4572000"/>
            <a:ext cx="1317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70164" y="4572000"/>
            <a:ext cx="17258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5076825"/>
            <a:ext cx="22620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52588" y="5076825"/>
            <a:ext cx="13175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70164" y="5076825"/>
            <a:ext cx="17258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1025" y="485775"/>
            <a:ext cx="1158144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03 / DEĞERLENDİRME - Model Karşılaştırma ve Performans Analizi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5240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2762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709987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367212"/>
            <a:ext cx="171450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0771"/>
            <a:ext cx="5324475" cy="25041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4" y="1777398"/>
            <a:ext cx="6279535" cy="3350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72250" y="2938462"/>
            <a:ext cx="5038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ECAD8"/>
                </a:solidFill>
                <a:latin typeface="Plus Jakarta Sans"/>
              </a:rPr>
              <a:t>Modern Koyu Tema:</a:t>
            </a:r>
            <a:r>
              <a:rPr sz="1350" b="0" i="0" u="none">
                <a:solidFill>
                  <a:srgbClr val="BECAD8"/>
                </a:solidFill>
                <a:latin typeface="Plus Jakarta Sans"/>
              </a:rPr>
              <a:t> Göz yormayan, şık ve profesyonel dark mode tasarımı.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250" y="3595687"/>
            <a:ext cx="5038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BECAD8"/>
                </a:solidFill>
                <a:latin typeface="Plus Jakarta Sans"/>
              </a:rPr>
              <a:t>Dinamik</a:t>
            </a:r>
            <a:r>
              <a:rPr sz="1350" b="1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BECAD8"/>
                </a:solidFill>
                <a:latin typeface="Plus Jakarta Sans"/>
              </a:rPr>
              <a:t>Güven</a:t>
            </a:r>
            <a:r>
              <a:rPr sz="1350" b="1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BECAD8"/>
                </a:solidFill>
                <a:latin typeface="Plus Jakarta Sans"/>
              </a:rPr>
              <a:t>Eşiği</a:t>
            </a:r>
            <a:r>
              <a:rPr sz="1350" b="1" i="0" u="none" dirty="0">
                <a:solidFill>
                  <a:srgbClr val="BECAD8"/>
                </a:solidFill>
                <a:latin typeface="Plus Jakarta Sans"/>
              </a:rPr>
              <a:t>: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BECAD8"/>
                </a:solidFill>
                <a:latin typeface="Plus Jakarta Sans"/>
              </a:rPr>
              <a:t>Kaydırıcı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 (slider) </a:t>
            </a:r>
            <a:r>
              <a:rPr sz="1350" b="0" i="0" u="none" dirty="0" err="1">
                <a:solidFill>
                  <a:srgbClr val="BECAD8"/>
                </a:solidFill>
                <a:latin typeface="Plus Jakarta Sans"/>
              </a:rPr>
              <a:t>yardımıyla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BECAD8"/>
                </a:solidFill>
                <a:latin typeface="Plus Jakarta Sans"/>
              </a:rPr>
              <a:t>hassasiyetin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BECAD8"/>
                </a:solidFill>
                <a:latin typeface="Plus Jakarta Sans"/>
              </a:rPr>
              <a:t>anlık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BECAD8"/>
                </a:solidFill>
                <a:latin typeface="Plus Jakarta Sans"/>
              </a:rPr>
              <a:t>ayarlanabilmesi</a:t>
            </a:r>
            <a:r>
              <a:rPr sz="1350" b="0" i="0" u="none" dirty="0">
                <a:solidFill>
                  <a:srgbClr val="BECAD8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4252912"/>
            <a:ext cx="5038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ECAD8"/>
                </a:solidFill>
                <a:latin typeface="Plus Jakarta Sans"/>
              </a:rPr>
              <a:t>Anlık Özet Tablosu:</a:t>
            </a:r>
            <a:r>
              <a:rPr sz="1350" b="0" i="0" u="none">
                <a:solidFill>
                  <a:srgbClr val="BECAD8"/>
                </a:solidFill>
                <a:latin typeface="Plus Jakarta Sans"/>
              </a:rPr>
              <a:t> Görsel yüklendiği anda tespit edilen nesne adetlerinin listelenmesi.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Gradio Arayüzü ve Canlı Kullanım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219" y="2948264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748" y="363028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92" y="4288768"/>
            <a:ext cx="171450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0731" y="2471737"/>
            <a:ext cx="4290536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2DD4BF"/>
                </a:solidFill>
                <a:latin typeface="Plus Jakarta Sans"/>
              </a:rPr>
              <a:t>Teşekkürler!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4157662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BECAD8"/>
                </a:solidFill>
                <a:latin typeface="Plus Jakarta Sans"/>
              </a:rPr>
              <a:t>YOLOv8 Nesne Tespiti Proje Ekibi | Staj Kapanış Sunumu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547</Words>
  <Application>Microsoft Office PowerPoint</Application>
  <PresentationFormat>Geniş ekran</PresentationFormat>
  <Paragraphs>101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Plus Jakarta Sans</vt:lpstr>
      <vt:lpstr>Plus Jakarta Sans SemiBold</vt:lpstr>
      <vt:lpstr>Segoe UI Symbol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2026-09-10T21:32:15Z</dcterms:modified>
  <cp:category/>
</cp:coreProperties>
</file>