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4" r:id="rId3"/>
    <p:sldId id="265" r:id="rId15"/>
    <p:sldId id="262" r:id="rId4"/>
    <p:sldId id="263" r:id="rId5"/>
    <p:sldId id="257" r:id="rId6"/>
    <p:sldId id="259" r:id="rId8"/>
    <p:sldId id="260" r:id="rId9"/>
    <p:sldId id="261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691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C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65433" y="2638425"/>
            <a:ext cx="9061132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1" i="0" u="none">
                <a:solidFill>
                  <a:srgbClr val="F8FAFC"/>
                </a:solidFill>
                <a:latin typeface="Plus Jakarta Sans"/>
              </a:rPr>
              <a:t>YOLOv8 Nesne Tespiti Projesi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590925"/>
            <a:ext cx="7620000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75"/>
              </a:lnSpc>
            </a:pPr>
            <a:r>
              <a:rPr sz="1650" b="0" i="0" u="none">
                <a:solidFill>
                  <a:srgbClr val="CBD5E1"/>
                </a:solidFill>
                <a:latin typeface="Plus Jakarta Sans"/>
              </a:rPr>
              <a:t>Staj Kapanış Sunumu — COCO Veri Setinden 5 Sınıf Eğitimi, Sınıf Dağılımı ve Gradio Arayüzü Entegrasyonu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C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384048"/>
            <a:ext cx="2743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>
                <a:solidFill>
                  <a:srgbClr val="52CFC4"/>
                </a:solidFill>
                <a:latin typeface="Aptos"/>
              </a:rPr>
              <a:t>01 / PLANLAMA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13232"/>
            <a:ext cx="457200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500" b="1">
                <a:solidFill>
                  <a:srgbClr val="F2F6FA"/>
                </a:solidFill>
                <a:latin typeface="Aptos"/>
              </a:rPr>
              <a:t>Amaç ve Kapsam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874519"/>
            <a:ext cx="5257800" cy="2743200"/>
          </a:xfrm>
          <a:prstGeom prst="roundRect">
            <a:avLst/>
          </a:prstGeom>
          <a:solidFill>
            <a:srgbClr val="1B283D"/>
          </a:solidFill>
          <a:ln w="12700">
            <a:solidFill>
              <a:srgbClr val="46BE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355080" y="1874519"/>
            <a:ext cx="5257800" cy="2743200"/>
          </a:xfrm>
          <a:prstGeom prst="roundRect">
            <a:avLst/>
          </a:prstGeom>
          <a:solidFill>
            <a:srgbClr val="1B283D"/>
          </a:solidFill>
          <a:ln w="12700">
            <a:solidFill>
              <a:srgbClr val="46BE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51560" y="2176272"/>
            <a:ext cx="310896" cy="310896"/>
          </a:xfrm>
          <a:prstGeom prst="ellipse">
            <a:avLst/>
          </a:prstGeom>
          <a:noFill/>
          <a:ln w="25400">
            <a:solidFill>
              <a:srgbClr val="00A6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629400" y="2176272"/>
            <a:ext cx="310896" cy="310896"/>
          </a:xfrm>
          <a:prstGeom prst="ellipse">
            <a:avLst/>
          </a:prstGeom>
          <a:noFill/>
          <a:ln w="25400">
            <a:solidFill>
              <a:srgbClr val="00A6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633472"/>
            <a:ext cx="438912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700" b="1">
                <a:solidFill>
                  <a:srgbClr val="F2F6FA"/>
                </a:solidFill>
                <a:latin typeface="Aptos"/>
              </a:rPr>
              <a:t>Amaç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90672"/>
            <a:ext cx="4526280" cy="998735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50" b="0" dirty="0">
                <a:solidFill>
                  <a:srgbClr val="BECAD8"/>
                </a:solidFill>
                <a:latin typeface="Aptos"/>
              </a:rPr>
              <a:t>COCO 2017 </a:t>
            </a:r>
            <a:r>
              <a:rPr sz="1250" b="0" dirty="0" err="1">
                <a:solidFill>
                  <a:srgbClr val="BECAD8"/>
                </a:solidFill>
                <a:latin typeface="Aptos"/>
              </a:rPr>
              <a:t>veri</a:t>
            </a:r>
            <a:r>
              <a:rPr sz="1250" b="0" dirty="0">
                <a:solidFill>
                  <a:srgbClr val="BECAD8"/>
                </a:solidFill>
                <a:latin typeface="Aptos"/>
              </a:rPr>
              <a:t> </a:t>
            </a:r>
            <a:r>
              <a:rPr sz="1250" b="0" dirty="0" err="1">
                <a:solidFill>
                  <a:srgbClr val="BECAD8"/>
                </a:solidFill>
                <a:latin typeface="Aptos"/>
              </a:rPr>
              <a:t>setinden</a:t>
            </a:r>
            <a:r>
              <a:rPr sz="1250" b="0" dirty="0">
                <a:solidFill>
                  <a:srgbClr val="BECAD8"/>
                </a:solidFill>
                <a:latin typeface="Aptos"/>
              </a:rPr>
              <a:t> </a:t>
            </a:r>
            <a:r>
              <a:rPr sz="1250" b="0" dirty="0" err="1">
                <a:solidFill>
                  <a:srgbClr val="BECAD8"/>
                </a:solidFill>
                <a:latin typeface="Aptos"/>
              </a:rPr>
              <a:t>seçilen</a:t>
            </a:r>
            <a:r>
              <a:rPr sz="1250" b="0" dirty="0">
                <a:solidFill>
                  <a:srgbClr val="BECAD8"/>
                </a:solidFill>
                <a:latin typeface="Aptos"/>
              </a:rPr>
              <a:t> </a:t>
            </a:r>
            <a:r>
              <a:rPr sz="1250" b="0" dirty="0" err="1">
                <a:solidFill>
                  <a:srgbClr val="BECAD8"/>
                </a:solidFill>
                <a:latin typeface="Aptos"/>
              </a:rPr>
              <a:t>nesne</a:t>
            </a:r>
            <a:r>
              <a:rPr sz="1250" b="0" dirty="0">
                <a:solidFill>
                  <a:srgbClr val="BECAD8"/>
                </a:solidFill>
                <a:latin typeface="Aptos"/>
              </a:rPr>
              <a:t> </a:t>
            </a:r>
            <a:r>
              <a:rPr sz="1250" b="0" dirty="0" err="1">
                <a:solidFill>
                  <a:srgbClr val="BECAD8"/>
                </a:solidFill>
                <a:latin typeface="Aptos"/>
              </a:rPr>
              <a:t>sınıflarını</a:t>
            </a:r>
            <a:r>
              <a:rPr sz="1250" b="0" dirty="0">
                <a:solidFill>
                  <a:srgbClr val="BECAD8"/>
                </a:solidFill>
                <a:latin typeface="Aptos"/>
              </a:rPr>
              <a:t> </a:t>
            </a:r>
            <a:r>
              <a:rPr sz="1250" b="0" dirty="0" err="1">
                <a:solidFill>
                  <a:srgbClr val="BECAD8"/>
                </a:solidFill>
                <a:latin typeface="Aptos"/>
              </a:rPr>
              <a:t>kullanarak</a:t>
            </a:r>
            <a:r>
              <a:rPr sz="1250" b="0" dirty="0">
                <a:solidFill>
                  <a:srgbClr val="BECAD8"/>
                </a:solidFill>
                <a:latin typeface="Aptos"/>
              </a:rPr>
              <a:t> YOLOv8n </a:t>
            </a:r>
            <a:r>
              <a:rPr sz="1250" b="0" dirty="0" err="1">
                <a:solidFill>
                  <a:srgbClr val="BECAD8"/>
                </a:solidFill>
                <a:latin typeface="Aptos"/>
              </a:rPr>
              <a:t>modeliyle</a:t>
            </a:r>
            <a:r>
              <a:rPr sz="1250" b="0" dirty="0">
                <a:solidFill>
                  <a:srgbClr val="BECAD8"/>
                </a:solidFill>
                <a:latin typeface="Aptos"/>
              </a:rPr>
              <a:t> </a:t>
            </a:r>
            <a:r>
              <a:rPr sz="1250" b="0" dirty="0" err="1">
                <a:solidFill>
                  <a:srgbClr val="BECAD8"/>
                </a:solidFill>
                <a:latin typeface="Aptos"/>
              </a:rPr>
              <a:t>nesne</a:t>
            </a:r>
            <a:r>
              <a:rPr sz="1250" b="0" dirty="0">
                <a:solidFill>
                  <a:srgbClr val="BECAD8"/>
                </a:solidFill>
                <a:latin typeface="Aptos"/>
              </a:rPr>
              <a:t> </a:t>
            </a:r>
            <a:r>
              <a:rPr sz="1250" b="0" dirty="0" err="1">
                <a:solidFill>
                  <a:srgbClr val="BECAD8"/>
                </a:solidFill>
                <a:latin typeface="Aptos"/>
              </a:rPr>
              <a:t>tespiti</a:t>
            </a:r>
            <a:r>
              <a:rPr sz="1250" b="0" dirty="0">
                <a:solidFill>
                  <a:srgbClr val="BECAD8"/>
                </a:solidFill>
                <a:latin typeface="Aptos"/>
              </a:rPr>
              <a:t> </a:t>
            </a:r>
            <a:r>
              <a:rPr sz="1250" b="0" dirty="0" err="1">
                <a:solidFill>
                  <a:srgbClr val="BECAD8"/>
                </a:solidFill>
                <a:latin typeface="Aptos"/>
              </a:rPr>
              <a:t>gerçekleştirmek</a:t>
            </a:r>
            <a:r>
              <a:rPr sz="1250" b="0" dirty="0">
                <a:solidFill>
                  <a:srgbClr val="BECAD8"/>
                </a:solidFill>
                <a:latin typeface="Aptos"/>
              </a:rPr>
              <a:t> </a:t>
            </a:r>
            <a:r>
              <a:rPr sz="1250" b="0" dirty="0" err="1">
                <a:solidFill>
                  <a:srgbClr val="BECAD8"/>
                </a:solidFill>
                <a:latin typeface="Aptos"/>
              </a:rPr>
              <a:t>ve</a:t>
            </a:r>
            <a:r>
              <a:rPr sz="1250" b="0" dirty="0">
                <a:solidFill>
                  <a:srgbClr val="BECAD8"/>
                </a:solidFill>
                <a:latin typeface="Aptos"/>
              </a:rPr>
              <a:t> </a:t>
            </a:r>
            <a:r>
              <a:rPr sz="1250" b="0" dirty="0" err="1">
                <a:solidFill>
                  <a:srgbClr val="BECAD8"/>
                </a:solidFill>
                <a:latin typeface="Aptos"/>
              </a:rPr>
              <a:t>eğitilen</a:t>
            </a:r>
            <a:r>
              <a:rPr sz="1250" b="0" dirty="0">
                <a:solidFill>
                  <a:srgbClr val="BECAD8"/>
                </a:solidFill>
                <a:latin typeface="Aptos"/>
              </a:rPr>
              <a:t> </a:t>
            </a:r>
            <a:r>
              <a:rPr sz="1250" b="0" dirty="0" err="1">
                <a:solidFill>
                  <a:srgbClr val="BECAD8"/>
                </a:solidFill>
                <a:latin typeface="Aptos"/>
              </a:rPr>
              <a:t>modeli</a:t>
            </a:r>
            <a:r>
              <a:rPr sz="1250" b="0" dirty="0">
                <a:solidFill>
                  <a:srgbClr val="BECAD8"/>
                </a:solidFill>
                <a:latin typeface="Aptos"/>
              </a:rPr>
              <a:t> test </a:t>
            </a:r>
            <a:r>
              <a:rPr sz="1250" b="0" dirty="0" err="1">
                <a:solidFill>
                  <a:srgbClr val="BECAD8"/>
                </a:solidFill>
                <a:latin typeface="Aptos"/>
              </a:rPr>
              <a:t>edilebilir</a:t>
            </a:r>
            <a:r>
              <a:rPr sz="1250" b="0" dirty="0">
                <a:solidFill>
                  <a:srgbClr val="BECAD8"/>
                </a:solidFill>
                <a:latin typeface="Aptos"/>
              </a:rPr>
              <a:t> </a:t>
            </a:r>
            <a:r>
              <a:rPr sz="1250" b="0" dirty="0" err="1">
                <a:solidFill>
                  <a:srgbClr val="BECAD8"/>
                </a:solidFill>
                <a:latin typeface="Aptos"/>
              </a:rPr>
              <a:t>bir</a:t>
            </a:r>
            <a:r>
              <a:rPr sz="1250" b="0" dirty="0">
                <a:solidFill>
                  <a:srgbClr val="BECAD8"/>
                </a:solidFill>
                <a:latin typeface="Aptos"/>
              </a:rPr>
              <a:t> </a:t>
            </a:r>
            <a:r>
              <a:rPr sz="1250" b="0" dirty="0" err="1">
                <a:solidFill>
                  <a:srgbClr val="BECAD8"/>
                </a:solidFill>
                <a:latin typeface="Aptos"/>
              </a:rPr>
              <a:t>arayüze</a:t>
            </a:r>
            <a:r>
              <a:rPr sz="1250" b="0" dirty="0">
                <a:solidFill>
                  <a:srgbClr val="BECAD8"/>
                </a:solidFill>
                <a:latin typeface="Aptos"/>
              </a:rPr>
              <a:t> </a:t>
            </a:r>
            <a:r>
              <a:rPr sz="1250" b="0" dirty="0" err="1">
                <a:solidFill>
                  <a:srgbClr val="BECAD8"/>
                </a:solidFill>
                <a:latin typeface="Aptos"/>
              </a:rPr>
              <a:t>entegre</a:t>
            </a:r>
            <a:r>
              <a:rPr sz="1250" b="0" dirty="0">
                <a:solidFill>
                  <a:srgbClr val="BECAD8"/>
                </a:solidFill>
                <a:latin typeface="Aptos"/>
              </a:rPr>
              <a:t> </a:t>
            </a:r>
            <a:r>
              <a:rPr sz="1250" b="0" dirty="0" err="1">
                <a:solidFill>
                  <a:srgbClr val="BECAD8"/>
                </a:solidFill>
                <a:latin typeface="Aptos"/>
              </a:rPr>
              <a:t>etmek</a:t>
            </a:r>
            <a:r>
              <a:rPr sz="1250" b="0" dirty="0" smtClean="0">
                <a:solidFill>
                  <a:srgbClr val="BECAD8"/>
                </a:solidFill>
                <a:latin typeface="Aptos"/>
              </a:rPr>
              <a:t>.</a:t>
            </a:r>
            <a:endParaRPr lang="tr-TR" sz="1250" b="0" dirty="0" smtClean="0">
              <a:solidFill>
                <a:srgbClr val="BECAD8"/>
              </a:solidFill>
              <a:latin typeface="Aptos"/>
            </a:endParaRPr>
          </a:p>
          <a:p>
            <a:pPr algn="l"/>
            <a:endParaRPr lang="tr-TR" sz="1250" dirty="0">
              <a:solidFill>
                <a:srgbClr val="BECAD8"/>
              </a:solidFill>
              <a:latin typeface="Aptos"/>
            </a:endParaRPr>
          </a:p>
          <a:p>
            <a:pPr algn="l"/>
            <a:r>
              <a:rPr lang="tr-TR" sz="1250" b="0" dirty="0" smtClean="0">
                <a:solidFill>
                  <a:srgbClr val="BECAD8"/>
                </a:solidFill>
                <a:latin typeface="Aptos"/>
              </a:rPr>
              <a:t>DATASET SINIFLARINI EKLE</a:t>
            </a:r>
            <a:endParaRPr sz="1250" b="0" dirty="0">
              <a:solidFill>
                <a:srgbClr val="BECAD8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29400" y="2633472"/>
            <a:ext cx="438912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700" b="1">
                <a:solidFill>
                  <a:srgbClr val="F2F6FA"/>
                </a:solidFill>
                <a:latin typeface="Aptos"/>
              </a:rPr>
              <a:t>Kapsam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90672"/>
            <a:ext cx="4526280" cy="12344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50" b="0">
                <a:solidFill>
                  <a:srgbClr val="BECAD8"/>
                </a:solidFill>
                <a:latin typeface="Aptos"/>
              </a:rPr>
              <a:t>Veri hazırlama ve temizleme, YOLO formatına dönüştürme, model eğitimi, mAP50 / Precision / Recall ile değerlendirme ve Gradio arayüzü ile test süreçlerini kapsamaktadır.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C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>
                <a:solidFill>
                  <a:srgbClr val="52CFC4"/>
                </a:solidFill>
                <a:latin typeface="Aptos"/>
              </a:rPr>
              <a:t>01 / PLANLAMA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640080"/>
            <a:ext cx="8229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500" b="1">
                <a:solidFill>
                  <a:srgbClr val="F2F6FA"/>
                </a:solidFill>
                <a:latin typeface="Aptos"/>
              </a:rPr>
              <a:t>Veri Seti Sınıf Dağılımı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188720"/>
            <a:ext cx="10634472" cy="18288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508760"/>
            <a:ext cx="4800600" cy="4434840"/>
          </a:xfrm>
          <a:prstGeom prst="roundRect">
            <a:avLst>
              <a:gd name="adj" fmla="val 4500"/>
            </a:avLst>
          </a:prstGeom>
          <a:solidFill>
            <a:srgbClr val="1B283D"/>
          </a:solidFill>
          <a:ln w="15875">
            <a:solidFill>
              <a:srgbClr val="46B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3271" y="1874519"/>
            <a:ext cx="100584" cy="100584"/>
          </a:xfrm>
          <a:prstGeom prst="ellipse">
            <a:avLst/>
          </a:prstGeom>
          <a:noFill/>
          <a:ln w="19050">
            <a:solidFill>
              <a:srgbClr val="00A6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52728" y="1755648"/>
            <a:ext cx="4069080" cy="7863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50" b="1">
                <a:solidFill>
                  <a:srgbClr val="F2F6FA"/>
                </a:solidFill>
                <a:latin typeface="Aptos"/>
              </a:rPr>
              <a:t>Kaynak: </a:t>
            </a:r>
            <a:r>
              <a:rPr sz="1150" b="0">
                <a:solidFill>
                  <a:srgbClr val="BECAD8"/>
                </a:solidFill>
                <a:latin typeface="Aptos"/>
              </a:rPr>
              <a:t>COCO 2017 veri seti, FiftyOne ile filtrelenerek oluşturuldu.</a:t>
            </a:r>
          </a:p>
        </p:txBody>
      </p:sp>
      <p:sp>
        <p:nvSpPr>
          <p:cNvPr id="8" name="Oval 7"/>
          <p:cNvSpPr/>
          <p:nvPr/>
        </p:nvSpPr>
        <p:spPr>
          <a:xfrm>
            <a:off x="1033271" y="2660903"/>
            <a:ext cx="100584" cy="100584"/>
          </a:xfrm>
          <a:prstGeom prst="ellipse">
            <a:avLst/>
          </a:prstGeom>
          <a:noFill/>
          <a:ln w="19050">
            <a:solidFill>
              <a:srgbClr val="00A6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52728" y="2542032"/>
            <a:ext cx="4069080" cy="7863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50" b="1">
                <a:solidFill>
                  <a:srgbClr val="F2F6FA"/>
                </a:solidFill>
                <a:latin typeface="Aptos"/>
              </a:rPr>
              <a:t>Sınıflar: </a:t>
            </a:r>
            <a:r>
              <a:rPr sz="1150" b="0">
                <a:solidFill>
                  <a:srgbClr val="BECAD8"/>
                </a:solidFill>
                <a:latin typeface="Aptos"/>
              </a:rPr>
              <a:t>Laptop, Klavye, Fare, Telefon, Şişe (5 sınıf).</a:t>
            </a:r>
          </a:p>
        </p:txBody>
      </p:sp>
      <p:sp>
        <p:nvSpPr>
          <p:cNvPr id="10" name="Oval 9"/>
          <p:cNvSpPr/>
          <p:nvPr/>
        </p:nvSpPr>
        <p:spPr>
          <a:xfrm>
            <a:off x="1033271" y="3447287"/>
            <a:ext cx="100584" cy="100584"/>
          </a:xfrm>
          <a:prstGeom prst="ellipse">
            <a:avLst/>
          </a:prstGeom>
          <a:noFill/>
          <a:ln w="19050">
            <a:solidFill>
              <a:srgbClr val="00A6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52728" y="3328415"/>
            <a:ext cx="4069080" cy="7863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50" b="1">
                <a:solidFill>
                  <a:srgbClr val="F2F6FA"/>
                </a:solidFill>
                <a:latin typeface="Aptos"/>
              </a:rPr>
              <a:t>Toplam Örnek: </a:t>
            </a:r>
            <a:r>
              <a:rPr sz="1150" b="0">
                <a:solidFill>
                  <a:srgbClr val="BECAD8"/>
                </a:solidFill>
                <a:latin typeface="Aptos"/>
              </a:rPr>
              <a:t>5 sınıfta toplam 7.558 adet nesne örneği.</a:t>
            </a:r>
          </a:p>
        </p:txBody>
      </p:sp>
      <p:sp>
        <p:nvSpPr>
          <p:cNvPr id="12" name="Oval 11"/>
          <p:cNvSpPr/>
          <p:nvPr/>
        </p:nvSpPr>
        <p:spPr>
          <a:xfrm>
            <a:off x="1033271" y="4233672"/>
            <a:ext cx="100584" cy="100584"/>
          </a:xfrm>
          <a:prstGeom prst="ellipse">
            <a:avLst/>
          </a:prstGeom>
          <a:noFill/>
          <a:ln w="19050">
            <a:solidFill>
              <a:srgbClr val="00A6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2728" y="4114800"/>
            <a:ext cx="4069080" cy="7863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50" b="1">
                <a:solidFill>
                  <a:srgbClr val="F2F6FA"/>
                </a:solidFill>
                <a:latin typeface="Aptos"/>
              </a:rPr>
              <a:t>Ön İşleme: </a:t>
            </a:r>
            <a:r>
              <a:rPr sz="1150" b="0">
                <a:solidFill>
                  <a:srgbClr val="BECAD8"/>
                </a:solidFill>
                <a:latin typeface="Aptos"/>
              </a:rPr>
              <a:t>YOLO formatına dönüştürme ve train / val ayrımı.</a:t>
            </a:r>
          </a:p>
        </p:txBody>
      </p:sp>
      <p:sp>
        <p:nvSpPr>
          <p:cNvPr id="14" name="Oval 13"/>
          <p:cNvSpPr/>
          <p:nvPr/>
        </p:nvSpPr>
        <p:spPr>
          <a:xfrm>
            <a:off x="1033271" y="5020056"/>
            <a:ext cx="100584" cy="100584"/>
          </a:xfrm>
          <a:prstGeom prst="ellipse">
            <a:avLst/>
          </a:prstGeom>
          <a:noFill/>
          <a:ln w="19050">
            <a:solidFill>
              <a:srgbClr val="00A6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2728" y="4901184"/>
            <a:ext cx="4069080" cy="7863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50" b="1">
                <a:solidFill>
                  <a:srgbClr val="F2F6FA"/>
                </a:solidFill>
                <a:latin typeface="Aptos"/>
              </a:rPr>
              <a:t>Dağılım Etkisi: </a:t>
            </a:r>
            <a:r>
              <a:rPr sz="1150" b="0">
                <a:solidFill>
                  <a:srgbClr val="BECAD8"/>
                </a:solidFill>
                <a:latin typeface="Aptos"/>
              </a:rPr>
              <a:t>Yoğun bottle ve cell phone örnekleri modele güçlü genelleme yeteneği kazandırır.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80" y="1508760"/>
            <a:ext cx="5513832" cy="4434840"/>
          </a:xfrm>
          <a:prstGeom prst="roundRect">
            <a:avLst>
              <a:gd name="adj" fmla="val 4500"/>
            </a:avLst>
          </a:prstGeom>
          <a:solidFill>
            <a:srgbClr val="1B283D"/>
          </a:solidFill>
          <a:ln w="15875">
            <a:solidFill>
              <a:srgbClr val="46BE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764792"/>
            <a:ext cx="487375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>
                <a:solidFill>
                  <a:srgbClr val="52CFC4"/>
                </a:solidFill>
                <a:latin typeface="Aptos"/>
              </a:rPr>
              <a:t>SINIF DAĞILIMI (7.558 ÖRNEK)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286000"/>
            <a:ext cx="105156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F2F6FA"/>
                </a:solidFill>
                <a:latin typeface="Aptos"/>
              </a:rPr>
              <a:t>Laptop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19" y="2286000"/>
            <a:ext cx="2880360" cy="274320"/>
          </a:xfrm>
          <a:prstGeom prst="roundRect">
            <a:avLst>
              <a:gd name="adj" fmla="val 50000"/>
            </a:avLst>
          </a:prstGeom>
          <a:solidFill>
            <a:srgbClr val="273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60919" y="2286000"/>
            <a:ext cx="641947" cy="274320"/>
          </a:xfrm>
          <a:prstGeom prst="roundRect">
            <a:avLst>
              <a:gd name="adj" fmla="val 50000"/>
            </a:avLst>
          </a:prstGeom>
          <a:solidFill>
            <a:srgbClr val="52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78440" y="2286000"/>
            <a:ext cx="77724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ECAD8"/>
                </a:solidFill>
                <a:latin typeface="Aptos"/>
              </a:rPr>
              <a:t>955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958084"/>
            <a:ext cx="105156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F2F6FA"/>
                </a:solidFill>
                <a:latin typeface="Aptos"/>
              </a:rPr>
              <a:t>Klavye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60919" y="2958084"/>
            <a:ext cx="2880360" cy="274320"/>
          </a:xfrm>
          <a:prstGeom prst="roundRect">
            <a:avLst>
              <a:gd name="adj" fmla="val 50000"/>
            </a:avLst>
          </a:prstGeom>
          <a:solidFill>
            <a:srgbClr val="273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60919" y="2958084"/>
            <a:ext cx="388529" cy="274320"/>
          </a:xfrm>
          <a:prstGeom prst="roundRect">
            <a:avLst>
              <a:gd name="adj" fmla="val 50000"/>
            </a:avLst>
          </a:prstGeom>
          <a:solidFill>
            <a:srgbClr val="52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78440" y="2958084"/>
            <a:ext cx="77724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ECAD8"/>
                </a:solidFill>
                <a:latin typeface="Aptos"/>
              </a:rPr>
              <a:t>578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3630168"/>
            <a:ext cx="105156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F2F6FA"/>
                </a:solidFill>
                <a:latin typeface="Aptos"/>
              </a:rPr>
              <a:t>Fare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60919" y="3630168"/>
            <a:ext cx="2880360" cy="274320"/>
          </a:xfrm>
          <a:prstGeom prst="roundRect">
            <a:avLst>
              <a:gd name="adj" fmla="val 50000"/>
            </a:avLst>
          </a:prstGeom>
          <a:solidFill>
            <a:srgbClr val="273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360919" y="3630168"/>
            <a:ext cx="298455" cy="274320"/>
          </a:xfrm>
          <a:prstGeom prst="roundRect">
            <a:avLst>
              <a:gd name="adj" fmla="val 50000"/>
            </a:avLst>
          </a:prstGeom>
          <a:solidFill>
            <a:srgbClr val="52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78440" y="3630168"/>
            <a:ext cx="77724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ECAD8"/>
                </a:solidFill>
                <a:latin typeface="Aptos"/>
              </a:rPr>
              <a:t>444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4302252"/>
            <a:ext cx="105156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F2F6FA"/>
                </a:solidFill>
                <a:latin typeface="Aptos"/>
              </a:rPr>
              <a:t>Telefon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60919" y="4302252"/>
            <a:ext cx="2880360" cy="274320"/>
          </a:xfrm>
          <a:prstGeom prst="roundRect">
            <a:avLst>
              <a:gd name="adj" fmla="val 50000"/>
            </a:avLst>
          </a:prstGeom>
          <a:solidFill>
            <a:srgbClr val="273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360919" y="4302252"/>
            <a:ext cx="871166" cy="274320"/>
          </a:xfrm>
          <a:prstGeom prst="roundRect">
            <a:avLst>
              <a:gd name="adj" fmla="val 50000"/>
            </a:avLst>
          </a:prstGeom>
          <a:solidFill>
            <a:srgbClr val="52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78440" y="4302252"/>
            <a:ext cx="77724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ECAD8"/>
                </a:solidFill>
                <a:latin typeface="Aptos"/>
              </a:rPr>
              <a:t>1.296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4974336"/>
            <a:ext cx="105156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F2F6FA"/>
                </a:solidFill>
                <a:latin typeface="Aptos"/>
              </a:rPr>
              <a:t>Şişe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60919" y="4974336"/>
            <a:ext cx="2880360" cy="274320"/>
          </a:xfrm>
          <a:prstGeom prst="roundRect">
            <a:avLst>
              <a:gd name="adj" fmla="val 50000"/>
            </a:avLst>
          </a:prstGeom>
          <a:solidFill>
            <a:srgbClr val="273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360919" y="4974336"/>
            <a:ext cx="2880360" cy="274320"/>
          </a:xfrm>
          <a:prstGeom prst="roundRect">
            <a:avLst>
              <a:gd name="adj" fmla="val 50000"/>
            </a:avLst>
          </a:prstGeom>
          <a:solidFill>
            <a:srgbClr val="52C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78440" y="4974336"/>
            <a:ext cx="777240" cy="320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ECAD8"/>
                </a:solidFill>
                <a:latin typeface="Aptos"/>
              </a:rPr>
              <a:t>4.285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C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338328"/>
            <a:ext cx="22860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52CFC4"/>
                </a:solidFill>
                <a:latin typeface="Aptos"/>
              </a:rPr>
              <a:t>01 / PLANLAMA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12648"/>
            <a:ext cx="5486400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500" b="1">
                <a:solidFill>
                  <a:srgbClr val="F2F6FA"/>
                </a:solidFill>
                <a:latin typeface="Aptos"/>
              </a:rPr>
              <a:t>Proje Planı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37944"/>
            <a:ext cx="3063240" cy="1353312"/>
          </a:xfrm>
          <a:prstGeom prst="roundRect">
            <a:avLst/>
          </a:prstGeom>
          <a:solidFill>
            <a:srgbClr val="1B283D"/>
          </a:solidFill>
          <a:ln w="10160">
            <a:solidFill>
              <a:srgbClr val="46BE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" y="2057400"/>
            <a:ext cx="365760" cy="3200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200" b="0">
                <a:solidFill>
                  <a:srgbClr val="0DA49A"/>
                </a:solidFill>
                <a:latin typeface="Segoe UI Symbol"/>
              </a:rPr>
              <a:t>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2322576"/>
            <a:ext cx="2606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dirty="0">
                <a:solidFill>
                  <a:schemeClr val="bg1"/>
                </a:solidFill>
                <a:latin typeface="Aptos"/>
              </a:rPr>
              <a:t>01. </a:t>
            </a:r>
            <a:r>
              <a:rPr sz="1350" b="1" dirty="0" err="1">
                <a:solidFill>
                  <a:schemeClr val="bg1"/>
                </a:solidFill>
                <a:latin typeface="Aptos"/>
              </a:rPr>
              <a:t>Analiz</a:t>
            </a:r>
            <a:r>
              <a:rPr sz="1350" b="1" dirty="0">
                <a:solidFill>
                  <a:schemeClr val="bg1"/>
                </a:solidFill>
                <a:latin typeface="Aptos"/>
              </a:rPr>
              <a:t> &amp; </a:t>
            </a:r>
            <a:r>
              <a:rPr sz="1350" b="1" dirty="0" err="1">
                <a:solidFill>
                  <a:schemeClr val="bg1"/>
                </a:solidFill>
                <a:latin typeface="Aptos"/>
              </a:rPr>
              <a:t>İş</a:t>
            </a:r>
            <a:r>
              <a:rPr sz="1350" b="1" dirty="0">
                <a:solidFill>
                  <a:schemeClr val="bg1"/>
                </a:solidFill>
                <a:latin typeface="Aptos"/>
              </a:rPr>
              <a:t> </a:t>
            </a:r>
            <a:r>
              <a:rPr sz="1350" b="1" dirty="0" err="1">
                <a:solidFill>
                  <a:schemeClr val="bg1"/>
                </a:solidFill>
                <a:latin typeface="Aptos"/>
              </a:rPr>
              <a:t>Anlama</a:t>
            </a:r>
            <a:endParaRPr sz="1350" b="1" dirty="0">
              <a:solidFill>
                <a:schemeClr val="bg1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50392" y="2670048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dirty="0">
                <a:solidFill>
                  <a:srgbClr val="BECAD8"/>
                </a:solidFill>
                <a:latin typeface="Aptos"/>
              </a:rPr>
              <a:t>COCO 2017 </a:t>
            </a:r>
            <a:r>
              <a:rPr sz="1050" b="0" dirty="0" err="1">
                <a:solidFill>
                  <a:srgbClr val="BECAD8"/>
                </a:solidFill>
                <a:latin typeface="Aptos"/>
              </a:rPr>
              <a:t>veri</a:t>
            </a:r>
            <a:r>
              <a:rPr sz="1050" b="0" dirty="0">
                <a:solidFill>
                  <a:srgbClr val="BECAD8"/>
                </a:solidFill>
                <a:latin typeface="Aptos"/>
              </a:rPr>
              <a:t> </a:t>
            </a:r>
            <a:r>
              <a:rPr sz="1050" b="0" dirty="0" err="1">
                <a:solidFill>
                  <a:srgbClr val="BECAD8"/>
                </a:solidFill>
                <a:latin typeface="Aptos"/>
              </a:rPr>
              <a:t>setinden</a:t>
            </a:r>
            <a:r>
              <a:rPr sz="1050" b="0" dirty="0">
                <a:solidFill>
                  <a:srgbClr val="BECAD8"/>
                </a:solidFill>
                <a:latin typeface="Aptos"/>
              </a:rPr>
              <a:t> </a:t>
            </a:r>
            <a:r>
              <a:rPr sz="1050" b="0" dirty="0" err="1">
                <a:solidFill>
                  <a:srgbClr val="BECAD8"/>
                </a:solidFill>
                <a:latin typeface="Aptos"/>
              </a:rPr>
              <a:t>hedeflenen</a:t>
            </a:r>
            <a:r>
              <a:rPr sz="1050" b="0" dirty="0">
                <a:solidFill>
                  <a:srgbClr val="BECAD8"/>
                </a:solidFill>
                <a:latin typeface="Aptos"/>
              </a:rPr>
              <a:t> 5 </a:t>
            </a:r>
            <a:r>
              <a:rPr sz="1050" b="0" dirty="0" err="1">
                <a:solidFill>
                  <a:srgbClr val="BECAD8"/>
                </a:solidFill>
                <a:latin typeface="Aptos"/>
              </a:rPr>
              <a:t>sınıfın</a:t>
            </a:r>
            <a:r>
              <a:rPr sz="1050" b="0" dirty="0">
                <a:solidFill>
                  <a:srgbClr val="BECAD8"/>
                </a:solidFill>
                <a:latin typeface="Aptos"/>
              </a:rPr>
              <a:t> (laptop, </a:t>
            </a:r>
            <a:r>
              <a:rPr sz="1050" b="0" dirty="0" err="1">
                <a:solidFill>
                  <a:srgbClr val="BECAD8"/>
                </a:solidFill>
                <a:latin typeface="Aptos"/>
              </a:rPr>
              <a:t>klavye</a:t>
            </a:r>
            <a:r>
              <a:rPr sz="1050" b="0" dirty="0">
                <a:solidFill>
                  <a:srgbClr val="BECAD8"/>
                </a:solidFill>
                <a:latin typeface="Aptos"/>
              </a:rPr>
              <a:t>, fare, </a:t>
            </a:r>
            <a:r>
              <a:rPr sz="1050" b="0" dirty="0" err="1">
                <a:solidFill>
                  <a:srgbClr val="BECAD8"/>
                </a:solidFill>
                <a:latin typeface="Aptos"/>
              </a:rPr>
              <a:t>telefon</a:t>
            </a:r>
            <a:r>
              <a:rPr sz="1050" b="0" dirty="0">
                <a:solidFill>
                  <a:srgbClr val="BECAD8"/>
                </a:solidFill>
                <a:latin typeface="Aptos"/>
              </a:rPr>
              <a:t>, </a:t>
            </a:r>
            <a:r>
              <a:rPr sz="1050" b="0" dirty="0" err="1">
                <a:solidFill>
                  <a:srgbClr val="BECAD8"/>
                </a:solidFill>
                <a:latin typeface="Aptos"/>
              </a:rPr>
              <a:t>şişe</a:t>
            </a:r>
            <a:r>
              <a:rPr sz="1050" b="0" dirty="0">
                <a:solidFill>
                  <a:srgbClr val="BECAD8"/>
                </a:solidFill>
                <a:latin typeface="Aptos"/>
              </a:rPr>
              <a:t>) </a:t>
            </a:r>
            <a:r>
              <a:rPr sz="1050" b="0" dirty="0" err="1">
                <a:solidFill>
                  <a:srgbClr val="BECAD8"/>
                </a:solidFill>
                <a:latin typeface="Aptos"/>
              </a:rPr>
              <a:t>analizi</a:t>
            </a:r>
            <a:r>
              <a:rPr sz="1050" b="0" dirty="0">
                <a:solidFill>
                  <a:srgbClr val="BECAD8"/>
                </a:solidFill>
                <a:latin typeface="Aptos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13048" y="1828800"/>
            <a:ext cx="3063240" cy="1353312"/>
          </a:xfrm>
          <a:prstGeom prst="roundRect">
            <a:avLst/>
          </a:prstGeom>
          <a:solidFill>
            <a:srgbClr val="1B283D"/>
          </a:solidFill>
          <a:ln w="10160">
            <a:solidFill>
              <a:srgbClr val="46BE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041648" y="2057400"/>
            <a:ext cx="365760" cy="3200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200" b="0">
                <a:solidFill>
                  <a:srgbClr val="0DA49A"/>
                </a:solidFill>
                <a:latin typeface="Segoe UI Symbol"/>
              </a:rPr>
              <a:t>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41648" y="2322576"/>
            <a:ext cx="2606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dirty="0">
                <a:solidFill>
                  <a:schemeClr val="bg1"/>
                </a:solidFill>
                <a:latin typeface="Aptos"/>
              </a:rPr>
              <a:t>02. </a:t>
            </a:r>
            <a:r>
              <a:rPr sz="1350" b="1" dirty="0" err="1">
                <a:solidFill>
                  <a:schemeClr val="bg1"/>
                </a:solidFill>
                <a:latin typeface="Aptos"/>
              </a:rPr>
              <a:t>Veri</a:t>
            </a:r>
            <a:r>
              <a:rPr sz="1350" b="1" dirty="0">
                <a:solidFill>
                  <a:schemeClr val="bg1"/>
                </a:solidFill>
                <a:latin typeface="Aptos"/>
              </a:rPr>
              <a:t> </a:t>
            </a:r>
            <a:r>
              <a:rPr sz="1350" b="1" dirty="0" err="1">
                <a:solidFill>
                  <a:schemeClr val="bg1"/>
                </a:solidFill>
                <a:latin typeface="Aptos"/>
              </a:rPr>
              <a:t>Temizleme</a:t>
            </a:r>
            <a:endParaRPr sz="1350" b="1" dirty="0">
              <a:solidFill>
                <a:schemeClr val="bg1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041648" y="2670048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dirty="0" err="1">
                <a:solidFill>
                  <a:srgbClr val="BECAD8"/>
                </a:solidFill>
                <a:latin typeface="Aptos"/>
              </a:rPr>
              <a:t>FiftyOne</a:t>
            </a:r>
            <a:r>
              <a:rPr sz="1050" b="0" dirty="0">
                <a:solidFill>
                  <a:srgbClr val="BECAD8"/>
                </a:solidFill>
                <a:latin typeface="Aptos"/>
              </a:rPr>
              <a:t> </a:t>
            </a:r>
            <a:r>
              <a:rPr sz="1050" b="0" dirty="0" err="1">
                <a:solidFill>
                  <a:srgbClr val="BECAD8"/>
                </a:solidFill>
                <a:latin typeface="Aptos"/>
              </a:rPr>
              <a:t>ile</a:t>
            </a:r>
            <a:r>
              <a:rPr sz="1050" b="0" dirty="0">
                <a:solidFill>
                  <a:srgbClr val="BECAD8"/>
                </a:solidFill>
                <a:latin typeface="Aptos"/>
              </a:rPr>
              <a:t> </a:t>
            </a:r>
            <a:r>
              <a:rPr sz="1050" b="0" dirty="0" err="1">
                <a:solidFill>
                  <a:srgbClr val="BECAD8"/>
                </a:solidFill>
                <a:latin typeface="Aptos"/>
              </a:rPr>
              <a:t>verilerin</a:t>
            </a:r>
            <a:r>
              <a:rPr sz="1050" b="0" dirty="0">
                <a:solidFill>
                  <a:srgbClr val="BECAD8"/>
                </a:solidFill>
                <a:latin typeface="Aptos"/>
              </a:rPr>
              <a:t> </a:t>
            </a:r>
            <a:r>
              <a:rPr sz="1050" b="0" dirty="0" err="1">
                <a:solidFill>
                  <a:srgbClr val="BECAD8"/>
                </a:solidFill>
                <a:latin typeface="Aptos"/>
              </a:rPr>
              <a:t>çekilmesi</a:t>
            </a:r>
            <a:r>
              <a:rPr sz="1050" b="0" dirty="0">
                <a:solidFill>
                  <a:srgbClr val="BECAD8"/>
                </a:solidFill>
                <a:latin typeface="Aptos"/>
              </a:rPr>
              <a:t>, YOLO </a:t>
            </a:r>
            <a:r>
              <a:rPr sz="1050" b="0" dirty="0" err="1">
                <a:solidFill>
                  <a:srgbClr val="BECAD8"/>
                </a:solidFill>
                <a:latin typeface="Aptos"/>
              </a:rPr>
              <a:t>formatına</a:t>
            </a:r>
            <a:r>
              <a:rPr sz="1050" b="0" dirty="0">
                <a:solidFill>
                  <a:srgbClr val="BECAD8"/>
                </a:solidFill>
                <a:latin typeface="Aptos"/>
              </a:rPr>
              <a:t> </a:t>
            </a:r>
            <a:r>
              <a:rPr sz="1050" b="0" dirty="0" err="1">
                <a:solidFill>
                  <a:srgbClr val="BECAD8"/>
                </a:solidFill>
                <a:latin typeface="Aptos"/>
              </a:rPr>
              <a:t>dönüştürülmesi</a:t>
            </a:r>
            <a:r>
              <a:rPr sz="1050" b="0" dirty="0">
                <a:solidFill>
                  <a:srgbClr val="BECAD8"/>
                </a:solidFill>
                <a:latin typeface="Aptos"/>
              </a:rPr>
              <a:t> </a:t>
            </a:r>
            <a:r>
              <a:rPr sz="1050" b="0" dirty="0" err="1">
                <a:solidFill>
                  <a:srgbClr val="BECAD8"/>
                </a:solidFill>
                <a:latin typeface="Aptos"/>
              </a:rPr>
              <a:t>ve</a:t>
            </a:r>
            <a:r>
              <a:rPr sz="1050" b="0" dirty="0">
                <a:solidFill>
                  <a:srgbClr val="BECAD8"/>
                </a:solidFill>
                <a:latin typeface="Aptos"/>
              </a:rPr>
              <a:t> train/</a:t>
            </a:r>
            <a:r>
              <a:rPr sz="1050" b="0" dirty="0" err="1">
                <a:solidFill>
                  <a:srgbClr val="BECAD8"/>
                </a:solidFill>
                <a:latin typeface="Aptos"/>
              </a:rPr>
              <a:t>val</a:t>
            </a:r>
            <a:r>
              <a:rPr sz="1050" b="0" dirty="0">
                <a:solidFill>
                  <a:srgbClr val="BECAD8"/>
                </a:solidFill>
                <a:latin typeface="Aptos"/>
              </a:rPr>
              <a:t> </a:t>
            </a:r>
            <a:r>
              <a:rPr sz="1050" b="0" dirty="0" err="1">
                <a:solidFill>
                  <a:srgbClr val="BECAD8"/>
                </a:solidFill>
                <a:latin typeface="Aptos"/>
              </a:rPr>
              <a:t>ayrıştırılmasının</a:t>
            </a:r>
            <a:r>
              <a:rPr sz="1050" b="0" dirty="0">
                <a:solidFill>
                  <a:srgbClr val="BECAD8"/>
                </a:solidFill>
                <a:latin typeface="Aptos"/>
              </a:rPr>
              <a:t> </a:t>
            </a:r>
            <a:r>
              <a:rPr sz="1050" b="0" dirty="0" err="1">
                <a:solidFill>
                  <a:srgbClr val="BECAD8"/>
                </a:solidFill>
                <a:latin typeface="Aptos"/>
              </a:rPr>
              <a:t>yapılması</a:t>
            </a:r>
            <a:r>
              <a:rPr sz="1050" b="0" dirty="0">
                <a:solidFill>
                  <a:srgbClr val="BECAD8"/>
                </a:solidFill>
                <a:latin typeface="Aptos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04304" y="1787746"/>
            <a:ext cx="3063240" cy="1554480"/>
          </a:xfrm>
          <a:prstGeom prst="roundRect">
            <a:avLst/>
          </a:prstGeom>
          <a:solidFill>
            <a:srgbClr val="1B283D"/>
          </a:solidFill>
          <a:ln w="10160">
            <a:solidFill>
              <a:srgbClr val="46BE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232904" y="2057400"/>
            <a:ext cx="365760" cy="3200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200" b="0">
                <a:solidFill>
                  <a:srgbClr val="0DA49A"/>
                </a:solidFill>
                <a:latin typeface="Segoe UI Symbol"/>
              </a:rPr>
              <a:t>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2904" y="2322576"/>
            <a:ext cx="2606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dirty="0">
                <a:solidFill>
                  <a:schemeClr val="bg1"/>
                </a:solidFill>
                <a:latin typeface="Aptos"/>
              </a:rPr>
              <a:t>03. </a:t>
            </a:r>
            <a:r>
              <a:rPr sz="1350" b="1" dirty="0" err="1">
                <a:solidFill>
                  <a:schemeClr val="bg1"/>
                </a:solidFill>
                <a:latin typeface="Aptos"/>
              </a:rPr>
              <a:t>Modelin</a:t>
            </a:r>
            <a:r>
              <a:rPr sz="1350" b="1" dirty="0">
                <a:solidFill>
                  <a:schemeClr val="bg1"/>
                </a:solidFill>
                <a:latin typeface="Aptos"/>
              </a:rPr>
              <a:t> </a:t>
            </a:r>
            <a:r>
              <a:rPr sz="1350" b="1" dirty="0" err="1">
                <a:solidFill>
                  <a:schemeClr val="bg1"/>
                </a:solidFill>
                <a:latin typeface="Aptos"/>
              </a:rPr>
              <a:t>Eğitimi</a:t>
            </a:r>
            <a:endParaRPr sz="1350" b="1" dirty="0">
              <a:solidFill>
                <a:schemeClr val="bg1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232904" y="2670048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dirty="0">
                <a:solidFill>
                  <a:srgbClr val="BECAD8"/>
                </a:solidFill>
                <a:latin typeface="Aptos"/>
              </a:rPr>
              <a:t>Google </a:t>
            </a:r>
            <a:r>
              <a:rPr sz="950" b="0" dirty="0" err="1">
                <a:solidFill>
                  <a:srgbClr val="BECAD8"/>
                </a:solidFill>
                <a:latin typeface="Aptos"/>
              </a:rPr>
              <a:t>Colab</a:t>
            </a:r>
            <a:r>
              <a:rPr sz="950" b="0" dirty="0">
                <a:solidFill>
                  <a:srgbClr val="BECAD8"/>
                </a:solidFill>
                <a:latin typeface="Aptos"/>
              </a:rPr>
              <a:t> T4 GPU </a:t>
            </a:r>
            <a:r>
              <a:rPr sz="950" b="0" dirty="0" err="1">
                <a:solidFill>
                  <a:srgbClr val="BECAD8"/>
                </a:solidFill>
                <a:latin typeface="Aptos"/>
              </a:rPr>
              <a:t>üzerinde</a:t>
            </a:r>
            <a:r>
              <a:rPr sz="950" b="0" dirty="0">
                <a:solidFill>
                  <a:srgbClr val="BECAD8"/>
                </a:solidFill>
                <a:latin typeface="Aptos"/>
              </a:rPr>
              <a:t> YOLOv8n </a:t>
            </a:r>
            <a:r>
              <a:rPr sz="950" b="0" dirty="0" err="1">
                <a:solidFill>
                  <a:srgbClr val="BECAD8"/>
                </a:solidFill>
                <a:latin typeface="Aptos"/>
              </a:rPr>
              <a:t>mimarisiyle</a:t>
            </a:r>
            <a:r>
              <a:rPr sz="950" b="0" dirty="0">
                <a:solidFill>
                  <a:srgbClr val="BECAD8"/>
                </a:solidFill>
                <a:latin typeface="Aptos"/>
              </a:rPr>
              <a:t> 50 epoch </a:t>
            </a:r>
            <a:r>
              <a:rPr sz="950" b="0" dirty="0" err="1">
                <a:solidFill>
                  <a:srgbClr val="BECAD8"/>
                </a:solidFill>
                <a:latin typeface="Aptos"/>
              </a:rPr>
              <a:t>eğitim</a:t>
            </a:r>
            <a:r>
              <a:rPr sz="950" b="0" dirty="0">
                <a:solidFill>
                  <a:srgbClr val="BECAD8"/>
                </a:solidFill>
                <a:latin typeface="Aptos"/>
              </a:rPr>
              <a:t> </a:t>
            </a:r>
            <a:r>
              <a:rPr sz="950" b="0" dirty="0" err="1">
                <a:solidFill>
                  <a:srgbClr val="BECAD8"/>
                </a:solidFill>
                <a:latin typeface="Aptos"/>
              </a:rPr>
              <a:t>gerçekleştirilmesi</a:t>
            </a:r>
            <a:r>
              <a:rPr sz="950" b="0" dirty="0">
                <a:solidFill>
                  <a:srgbClr val="BECAD8"/>
                </a:solidFill>
                <a:latin typeface="Aptos"/>
              </a:rPr>
              <a:t> </a:t>
            </a:r>
            <a:r>
              <a:rPr sz="950" b="0" dirty="0" err="1">
                <a:solidFill>
                  <a:srgbClr val="BECAD8"/>
                </a:solidFill>
                <a:latin typeface="Aptos"/>
              </a:rPr>
              <a:t>ve</a:t>
            </a:r>
            <a:r>
              <a:rPr sz="950" b="0" dirty="0">
                <a:solidFill>
                  <a:srgbClr val="BECAD8"/>
                </a:solidFill>
                <a:latin typeface="Aptos"/>
              </a:rPr>
              <a:t> best.pt </a:t>
            </a:r>
            <a:r>
              <a:rPr sz="950" b="0" dirty="0" err="1">
                <a:solidFill>
                  <a:srgbClr val="BECAD8"/>
                </a:solidFill>
                <a:latin typeface="Aptos"/>
              </a:rPr>
              <a:t>çıktısının</a:t>
            </a:r>
            <a:r>
              <a:rPr sz="950" b="0" dirty="0">
                <a:solidFill>
                  <a:srgbClr val="BECAD8"/>
                </a:solidFill>
                <a:latin typeface="Aptos"/>
              </a:rPr>
              <a:t> </a:t>
            </a:r>
            <a:r>
              <a:rPr sz="950" b="0" dirty="0" err="1">
                <a:solidFill>
                  <a:srgbClr val="BECAD8"/>
                </a:solidFill>
                <a:latin typeface="Aptos"/>
              </a:rPr>
              <a:t>alınması</a:t>
            </a:r>
            <a:r>
              <a:rPr sz="950" b="0" dirty="0">
                <a:solidFill>
                  <a:srgbClr val="BECAD8"/>
                </a:solidFill>
                <a:latin typeface="Aptos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3383280"/>
            <a:ext cx="4663440" cy="1353312"/>
          </a:xfrm>
          <a:prstGeom prst="roundRect">
            <a:avLst/>
          </a:prstGeom>
          <a:solidFill>
            <a:srgbClr val="1B283D"/>
          </a:solidFill>
          <a:ln w="10160">
            <a:solidFill>
              <a:srgbClr val="46BE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0392" y="3611880"/>
            <a:ext cx="365760" cy="3200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200" b="0">
                <a:solidFill>
                  <a:srgbClr val="0DA49A"/>
                </a:solidFill>
                <a:latin typeface="Segoe UI Symbol"/>
              </a:rPr>
              <a:t>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" y="3877056"/>
            <a:ext cx="42062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dirty="0">
                <a:solidFill>
                  <a:schemeClr val="bg1"/>
                </a:solidFill>
                <a:latin typeface="Aptos"/>
              </a:rPr>
              <a:t>04. Model </a:t>
            </a:r>
            <a:r>
              <a:rPr sz="1350" b="1" dirty="0" err="1">
                <a:solidFill>
                  <a:schemeClr val="bg1"/>
                </a:solidFill>
                <a:latin typeface="Aptos"/>
              </a:rPr>
              <a:t>Karşılaştırma</a:t>
            </a:r>
            <a:r>
              <a:rPr sz="1350" b="1" dirty="0">
                <a:solidFill>
                  <a:schemeClr val="bg1"/>
                </a:solidFill>
                <a:latin typeface="Aptos"/>
              </a:rPr>
              <a:t> &amp; </a:t>
            </a:r>
            <a:r>
              <a:rPr sz="1350" b="1" dirty="0" err="1">
                <a:solidFill>
                  <a:schemeClr val="bg1"/>
                </a:solidFill>
                <a:latin typeface="Aptos"/>
              </a:rPr>
              <a:t>Değerlendirme</a:t>
            </a:r>
            <a:endParaRPr sz="1350" b="1" dirty="0">
              <a:solidFill>
                <a:schemeClr val="bg1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50392" y="4224528"/>
            <a:ext cx="420624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ECAD8"/>
                </a:solidFill>
                <a:latin typeface="Aptos"/>
              </a:rPr>
              <a:t>mAP50, Precision ve Recall metriklerinin analizi, doğruluk oranlarının yorumlanması.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31536" y="3383280"/>
            <a:ext cx="4636008" cy="1353312"/>
          </a:xfrm>
          <a:prstGeom prst="roundRect">
            <a:avLst/>
          </a:prstGeom>
          <a:solidFill>
            <a:srgbClr val="1B283D"/>
          </a:solidFill>
          <a:ln w="10160">
            <a:solidFill>
              <a:srgbClr val="46BE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0136" y="3611880"/>
            <a:ext cx="365760" cy="3200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200" b="0">
                <a:solidFill>
                  <a:srgbClr val="0DA49A"/>
                </a:solidFill>
                <a:latin typeface="Segoe UI Symbol"/>
              </a:rPr>
              <a:t>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0136" y="3877056"/>
            <a:ext cx="417880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dirty="0">
                <a:solidFill>
                  <a:schemeClr val="bg1"/>
                </a:solidFill>
                <a:latin typeface="Aptos"/>
              </a:rPr>
              <a:t>05. </a:t>
            </a:r>
            <a:r>
              <a:rPr sz="1350" b="1" dirty="0" err="1">
                <a:solidFill>
                  <a:schemeClr val="bg1"/>
                </a:solidFill>
                <a:latin typeface="Aptos"/>
              </a:rPr>
              <a:t>Dokümantasyon</a:t>
            </a:r>
            <a:endParaRPr sz="1350" b="1" dirty="0">
              <a:solidFill>
                <a:schemeClr val="bg1"/>
              </a:solidFill>
              <a:latin typeface="Apto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660136" y="4224528"/>
            <a:ext cx="4178808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ECAD8"/>
                </a:solidFill>
                <a:latin typeface="Aptos"/>
              </a:rPr>
              <a:t>Eğitim grafiklerinin, confusion matrix çıktılarının ve Gradio front-end arayüz test raporlarının hazırlanması.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C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338328"/>
            <a:ext cx="22860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52CFC4"/>
                </a:solidFill>
                <a:latin typeface="Aptos"/>
              </a:rPr>
              <a:t>02 / TAKVİM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12648"/>
            <a:ext cx="5486400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500" b="1">
                <a:solidFill>
                  <a:srgbClr val="F2F6FA"/>
                </a:solidFill>
                <a:latin typeface="Aptos"/>
              </a:rPr>
              <a:t>Zaman Planı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1" y="2212847"/>
            <a:ext cx="9646921" cy="3441503"/>
          </a:xfrm>
          <a:prstGeom prst="rect">
            <a:avLst/>
          </a:prstGeom>
          <a:solidFill>
            <a:srgbClr val="1B283D"/>
          </a:solidFill>
          <a:ln w="11430">
            <a:solidFill>
              <a:srgbClr val="46BE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21791" y="2222305"/>
            <a:ext cx="9646920" cy="393192"/>
          </a:xfrm>
          <a:prstGeom prst="rect">
            <a:avLst/>
          </a:prstGeom>
          <a:solidFill>
            <a:srgbClr val="F8F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76656" y="2322576"/>
            <a:ext cx="342900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BECAD8"/>
                </a:solidFill>
                <a:latin typeface="Aptos"/>
              </a:rPr>
              <a:t>Faaliyet /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6323" y="2322576"/>
            <a:ext cx="551433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1" dirty="0" err="1">
                <a:latin typeface="Aptos"/>
              </a:rPr>
              <a:t>Perşembe</a:t>
            </a:r>
            <a:endParaRPr sz="900" b="1" dirty="0"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34859" y="2322576"/>
            <a:ext cx="320601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1" dirty="0" err="1">
                <a:latin typeface="Aptos"/>
              </a:rPr>
              <a:t>Cuma</a:t>
            </a:r>
            <a:endParaRPr sz="900" b="1" dirty="0"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753565" y="2322576"/>
            <a:ext cx="506549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1" dirty="0" err="1">
                <a:latin typeface="Aptos"/>
              </a:rPr>
              <a:t>Pazartesi</a:t>
            </a:r>
            <a:endParaRPr sz="900" b="1" dirty="0"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76656" y="2688336"/>
            <a:ext cx="36576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BECAD8"/>
                </a:solidFill>
                <a:latin typeface="Aptos"/>
              </a:rPr>
              <a:t>1. Adım: Analiz &amp; İş Anlama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3314699"/>
            <a:ext cx="36576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dirty="0">
                <a:solidFill>
                  <a:srgbClr val="BECAD8"/>
                </a:solidFill>
                <a:latin typeface="Aptos"/>
              </a:rPr>
              <a:t>2. </a:t>
            </a:r>
            <a:r>
              <a:rPr sz="900" b="1" dirty="0" err="1">
                <a:solidFill>
                  <a:srgbClr val="BECAD8"/>
                </a:solidFill>
                <a:latin typeface="Aptos"/>
              </a:rPr>
              <a:t>Adım</a:t>
            </a:r>
            <a:r>
              <a:rPr sz="900" b="1" dirty="0">
                <a:solidFill>
                  <a:srgbClr val="BECAD8"/>
                </a:solidFill>
                <a:latin typeface="Aptos"/>
              </a:rPr>
              <a:t>: </a:t>
            </a:r>
            <a:r>
              <a:rPr sz="900" b="1" dirty="0" err="1">
                <a:solidFill>
                  <a:srgbClr val="BECAD8"/>
                </a:solidFill>
                <a:latin typeface="Aptos"/>
              </a:rPr>
              <a:t>Veri</a:t>
            </a:r>
            <a:r>
              <a:rPr sz="900" b="1" dirty="0">
                <a:solidFill>
                  <a:srgbClr val="BECAD8"/>
                </a:solidFill>
                <a:latin typeface="Aptos"/>
              </a:rPr>
              <a:t> </a:t>
            </a:r>
            <a:r>
              <a:rPr sz="900" b="1" dirty="0" err="1">
                <a:solidFill>
                  <a:srgbClr val="BECAD8"/>
                </a:solidFill>
                <a:latin typeface="Aptos"/>
              </a:rPr>
              <a:t>Temizleme</a:t>
            </a:r>
            <a:endParaRPr sz="900" b="1" dirty="0">
              <a:solidFill>
                <a:srgbClr val="BECAD8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76656" y="4000872"/>
            <a:ext cx="36576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dirty="0">
                <a:solidFill>
                  <a:srgbClr val="BECAD8"/>
                </a:solidFill>
                <a:latin typeface="Aptos"/>
              </a:rPr>
              <a:t>3. </a:t>
            </a:r>
            <a:r>
              <a:rPr sz="900" b="1" dirty="0" err="1">
                <a:solidFill>
                  <a:srgbClr val="BECAD8"/>
                </a:solidFill>
                <a:latin typeface="Aptos"/>
              </a:rPr>
              <a:t>Adım</a:t>
            </a:r>
            <a:r>
              <a:rPr sz="900" b="1" dirty="0">
                <a:solidFill>
                  <a:srgbClr val="BECAD8"/>
                </a:solidFill>
                <a:latin typeface="Aptos"/>
              </a:rPr>
              <a:t>: </a:t>
            </a:r>
            <a:r>
              <a:rPr sz="900" b="1" dirty="0" err="1">
                <a:solidFill>
                  <a:srgbClr val="BECAD8"/>
                </a:solidFill>
                <a:latin typeface="Aptos"/>
              </a:rPr>
              <a:t>Modelin</a:t>
            </a:r>
            <a:r>
              <a:rPr sz="900" b="1" dirty="0">
                <a:solidFill>
                  <a:srgbClr val="BECAD8"/>
                </a:solidFill>
                <a:latin typeface="Aptos"/>
              </a:rPr>
              <a:t> </a:t>
            </a:r>
            <a:r>
              <a:rPr sz="900" b="1" dirty="0" err="1">
                <a:solidFill>
                  <a:srgbClr val="BECAD8"/>
                </a:solidFill>
                <a:latin typeface="Aptos"/>
              </a:rPr>
              <a:t>Eğitimi</a:t>
            </a:r>
            <a:endParaRPr sz="900" b="1" dirty="0">
              <a:solidFill>
                <a:srgbClr val="BECAD8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76656" y="4617719"/>
            <a:ext cx="36576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dirty="0">
                <a:solidFill>
                  <a:srgbClr val="BECAD8"/>
                </a:solidFill>
                <a:latin typeface="Aptos"/>
              </a:rPr>
              <a:t>4. </a:t>
            </a:r>
            <a:r>
              <a:rPr sz="900" b="1" dirty="0" err="1">
                <a:solidFill>
                  <a:srgbClr val="BECAD8"/>
                </a:solidFill>
                <a:latin typeface="Aptos"/>
              </a:rPr>
              <a:t>Adım</a:t>
            </a:r>
            <a:r>
              <a:rPr sz="900" b="1" dirty="0">
                <a:solidFill>
                  <a:srgbClr val="BECAD8"/>
                </a:solidFill>
                <a:latin typeface="Aptos"/>
              </a:rPr>
              <a:t>: Model </a:t>
            </a:r>
            <a:r>
              <a:rPr sz="900" b="1" dirty="0" err="1">
                <a:solidFill>
                  <a:srgbClr val="BECAD8"/>
                </a:solidFill>
                <a:latin typeface="Aptos"/>
              </a:rPr>
              <a:t>Karşılaştırma</a:t>
            </a:r>
            <a:r>
              <a:rPr sz="900" b="1" dirty="0">
                <a:solidFill>
                  <a:srgbClr val="BECAD8"/>
                </a:solidFill>
                <a:latin typeface="Aptos"/>
              </a:rPr>
              <a:t> </a:t>
            </a:r>
            <a:r>
              <a:rPr sz="900" b="1" dirty="0" err="1">
                <a:solidFill>
                  <a:srgbClr val="BECAD8"/>
                </a:solidFill>
                <a:latin typeface="Aptos"/>
              </a:rPr>
              <a:t>ve</a:t>
            </a:r>
            <a:r>
              <a:rPr sz="900" b="1" dirty="0">
                <a:solidFill>
                  <a:srgbClr val="BECAD8"/>
                </a:solidFill>
                <a:latin typeface="Aptos"/>
              </a:rPr>
              <a:t> </a:t>
            </a:r>
            <a:r>
              <a:rPr sz="900" b="1" dirty="0" err="1">
                <a:solidFill>
                  <a:srgbClr val="BECAD8"/>
                </a:solidFill>
                <a:latin typeface="Aptos"/>
              </a:rPr>
              <a:t>Değerlendirme</a:t>
            </a:r>
            <a:endParaRPr sz="900" b="1" dirty="0">
              <a:solidFill>
                <a:srgbClr val="BECAD8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76656" y="5216651"/>
            <a:ext cx="36576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dirty="0">
                <a:solidFill>
                  <a:srgbClr val="BECAD8"/>
                </a:solidFill>
                <a:latin typeface="Aptos"/>
              </a:rPr>
              <a:t>5. </a:t>
            </a:r>
            <a:r>
              <a:rPr sz="900" b="1" dirty="0" err="1">
                <a:solidFill>
                  <a:srgbClr val="BECAD8"/>
                </a:solidFill>
                <a:latin typeface="Aptos"/>
              </a:rPr>
              <a:t>Adım</a:t>
            </a:r>
            <a:r>
              <a:rPr sz="900" b="1" dirty="0">
                <a:solidFill>
                  <a:srgbClr val="BECAD8"/>
                </a:solidFill>
                <a:latin typeface="Aptos"/>
              </a:rPr>
              <a:t>: </a:t>
            </a:r>
            <a:r>
              <a:rPr sz="900" b="1" dirty="0" err="1">
                <a:solidFill>
                  <a:srgbClr val="BECAD8"/>
                </a:solidFill>
                <a:latin typeface="Aptos"/>
              </a:rPr>
              <a:t>Dokümantasyon</a:t>
            </a:r>
            <a:endParaRPr sz="900" b="1" dirty="0">
              <a:solidFill>
                <a:srgbClr val="BECAD8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0" y="2761488"/>
            <a:ext cx="804672" cy="210312"/>
          </a:xfrm>
          <a:prstGeom prst="roundRect">
            <a:avLst/>
          </a:prstGeom>
          <a:solidFill>
            <a:srgbClr val="2BC9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875803" y="3300050"/>
            <a:ext cx="1506335" cy="258304"/>
          </a:xfrm>
          <a:prstGeom prst="roundRect">
            <a:avLst/>
          </a:prstGeom>
          <a:solidFill>
            <a:srgbClr val="39B1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260840" y="3831100"/>
            <a:ext cx="1892061" cy="339543"/>
          </a:xfrm>
          <a:prstGeom prst="roundRect">
            <a:avLst/>
          </a:prstGeom>
          <a:solidFill>
            <a:srgbClr val="7A8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 flipV="1">
            <a:off x="7305869" y="4603346"/>
            <a:ext cx="2435290" cy="305985"/>
          </a:xfrm>
          <a:prstGeom prst="roundRect">
            <a:avLst/>
          </a:prstGeom>
          <a:solidFill>
            <a:srgbClr val="B77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647983" y="5126438"/>
            <a:ext cx="1620728" cy="310804"/>
          </a:xfrm>
          <a:prstGeom prst="roundRect">
            <a:avLst/>
          </a:prstGeom>
          <a:solidFill>
            <a:srgbClr val="F43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C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384048"/>
            <a:ext cx="1024128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4F7FA"/>
                </a:solidFill>
                <a:latin typeface="Aptos"/>
              </a:rPr>
              <a:t>Çözüm Diyagramı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051560"/>
            <a:ext cx="9921240" cy="18288"/>
          </a:xfrm>
          <a:prstGeom prst="rect">
            <a:avLst/>
          </a:prstGeom>
          <a:solidFill>
            <a:srgbClr val="324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2148840"/>
            <a:ext cx="1874519" cy="1645920"/>
          </a:xfrm>
          <a:prstGeom prst="roundRect">
            <a:avLst/>
          </a:prstGeom>
          <a:solidFill>
            <a:srgbClr val="121F33"/>
          </a:solidFill>
          <a:ln w="15240">
            <a:solidFill>
              <a:srgbClr val="4257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2395728"/>
            <a:ext cx="1554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30D6C0"/>
                </a:solidFill>
                <a:latin typeface="Aptos"/>
              </a:rPr>
              <a:t>GÖRSEL GİRDİSİ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852928"/>
            <a:ext cx="155448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CAD3DE"/>
                </a:solidFill>
                <a:latin typeface="Aptos"/>
              </a:rPr>
              <a:t>Test görseli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CAD3DE"/>
                </a:solidFill>
                <a:latin typeface="Aptos"/>
              </a:rPr>
              <a:t>veya yeni görüntü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1508760"/>
            <a:ext cx="4892040" cy="4160520"/>
          </a:xfrm>
          <a:prstGeom prst="roundRect">
            <a:avLst/>
          </a:prstGeom>
          <a:solidFill>
            <a:srgbClr val="1C283B"/>
          </a:solidFill>
          <a:ln w="15240">
            <a:solidFill>
              <a:srgbClr val="5164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71800" y="1719072"/>
            <a:ext cx="45262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5F7F9"/>
                </a:solidFill>
                <a:latin typeface="Aptos"/>
              </a:rPr>
              <a:t>BACK-END SERVİS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2103120"/>
            <a:ext cx="45262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30D6C0"/>
                </a:solidFill>
                <a:latin typeface="Aptos"/>
              </a:rPr>
              <a:t>YOLOv8n Nesne Tespiti Servisi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54680" y="2542032"/>
            <a:ext cx="4160520" cy="685800"/>
          </a:xfrm>
          <a:prstGeom prst="roundRect">
            <a:avLst/>
          </a:prstGeom>
          <a:solidFill>
            <a:srgbClr val="133137"/>
          </a:solidFill>
          <a:ln w="15240">
            <a:solidFill>
              <a:srgbClr val="4697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10128" y="2660904"/>
            <a:ext cx="384048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0F5F7"/>
                </a:solidFill>
                <a:latin typeface="Aptos"/>
              </a:rPr>
              <a:t>1 • Veri Ön İşleme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0128" y="2944368"/>
            <a:ext cx="384048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C3CFD9"/>
                </a:solidFill>
                <a:latin typeface="Aptos"/>
              </a:rPr>
              <a:t>Görüntü boyutu / format kontrolü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239512" y="3227832"/>
            <a:ext cx="0" cy="265176"/>
          </a:xfrm>
          <a:prstGeom prst="line">
            <a:avLst/>
          </a:prstGeom>
          <a:ln w="27940">
            <a:solidFill>
              <a:srgbClr val="30D6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154680" y="3520440"/>
            <a:ext cx="4160520" cy="685800"/>
          </a:xfrm>
          <a:prstGeom prst="roundRect">
            <a:avLst/>
          </a:prstGeom>
          <a:solidFill>
            <a:srgbClr val="133137"/>
          </a:solidFill>
          <a:ln w="15240">
            <a:solidFill>
              <a:srgbClr val="4697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10128" y="3639312"/>
            <a:ext cx="384048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0F5F7"/>
                </a:solidFill>
                <a:latin typeface="Aptos"/>
              </a:rPr>
              <a:t>2 • Model Çıkarımı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3922776"/>
            <a:ext cx="384048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C3CFD9"/>
                </a:solidFill>
                <a:latin typeface="Aptos"/>
              </a:rPr>
              <a:t>YOLOv8n ile nesne tespiti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239512" y="4206240"/>
            <a:ext cx="0" cy="265176"/>
          </a:xfrm>
          <a:prstGeom prst="line">
            <a:avLst/>
          </a:prstGeom>
          <a:ln w="27940">
            <a:solidFill>
              <a:srgbClr val="30D6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154680" y="4498848"/>
            <a:ext cx="4160520" cy="685800"/>
          </a:xfrm>
          <a:prstGeom prst="roundRect">
            <a:avLst/>
          </a:prstGeom>
          <a:solidFill>
            <a:srgbClr val="133137"/>
          </a:solidFill>
          <a:ln w="15240">
            <a:solidFill>
              <a:srgbClr val="4697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10128" y="4617720"/>
            <a:ext cx="384048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0F5F7"/>
                </a:solidFill>
                <a:latin typeface="Aptos"/>
              </a:rPr>
              <a:t>3 • Tespit Sonuçları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4901184"/>
            <a:ext cx="384048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C3CFD9"/>
                </a:solidFill>
                <a:latin typeface="Aptos"/>
              </a:rPr>
              <a:t>Sınıf, güven skoru ve kutular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73568" y="2148840"/>
            <a:ext cx="1874519" cy="1645920"/>
          </a:xfrm>
          <a:prstGeom prst="roundRect">
            <a:avLst/>
          </a:prstGeom>
          <a:solidFill>
            <a:srgbClr val="121F33"/>
          </a:solidFill>
          <a:ln w="15240">
            <a:solidFill>
              <a:srgbClr val="4257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9016" y="2395728"/>
            <a:ext cx="157276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30D6C0"/>
                </a:solidFill>
                <a:latin typeface="Aptos"/>
              </a:rPr>
              <a:t>GRADIO ARAYÜZÜ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9016" y="2852928"/>
            <a:ext cx="1572768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CAD3DE"/>
                </a:solidFill>
                <a:latin typeface="Aptos"/>
              </a:rPr>
              <a:t>Tespit edilen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CAD3DE"/>
                </a:solidFill>
                <a:latin typeface="Aptos"/>
              </a:rPr>
              <a:t>nesnelerin gösterimi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487168" y="2971800"/>
            <a:ext cx="283464" cy="0"/>
          </a:xfrm>
          <a:prstGeom prst="line">
            <a:avLst/>
          </a:prstGeom>
          <a:ln w="27940">
            <a:solidFill>
              <a:srgbClr val="30D6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699248" y="2971800"/>
            <a:ext cx="246888" cy="0"/>
          </a:xfrm>
          <a:prstGeom prst="line">
            <a:avLst/>
          </a:prstGeom>
          <a:ln w="27940">
            <a:solidFill>
              <a:srgbClr val="30D6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94360" y="4572000"/>
            <a:ext cx="1874519" cy="1078992"/>
          </a:xfrm>
          <a:prstGeom prst="roundRect">
            <a:avLst/>
          </a:prstGeom>
          <a:solidFill>
            <a:srgbClr val="0E192C"/>
          </a:solidFill>
          <a:ln w="15240">
            <a:solidFill>
              <a:srgbClr val="394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4736592"/>
            <a:ext cx="155448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30D6C0"/>
                </a:solidFill>
                <a:latin typeface="Aptos"/>
              </a:rPr>
              <a:t>EĞİTİM KAYNAĞI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" y="5065776"/>
            <a:ext cx="15544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AD3DE"/>
                </a:solidFill>
                <a:latin typeface="Aptos"/>
              </a:rPr>
              <a:t>COCO 2017 • FiftyOne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AD3DE"/>
                </a:solidFill>
                <a:latin typeface="Aptos"/>
              </a:rPr>
              <a:t>50 epoch • T4 GPU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487168" y="5074920"/>
            <a:ext cx="283464" cy="0"/>
          </a:xfrm>
          <a:prstGeom prst="line">
            <a:avLst/>
          </a:prstGeom>
          <a:ln w="27940">
            <a:solidFill>
              <a:srgbClr val="30D6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40080" y="5925312"/>
            <a:ext cx="96926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6A5B5"/>
                </a:solidFill>
                <a:latin typeface="Aptos"/>
              </a:rPr>
              <a:t>Girdi → Ön İşleme → YOLOv8n → Tespit Sonuçları → Gradio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C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1025" y="485775"/>
            <a:ext cx="11581447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F8FAFC"/>
                </a:solidFill>
                <a:latin typeface="Plus Jakarta Sans"/>
              </a:rPr>
              <a:t>Veri Seti Sınıf Dağılımı</a:t>
            </a:r>
          </a:p>
        </p:txBody>
      </p:sp>
      <p:sp>
        <p:nvSpPr>
          <p:cNvPr id="5" name="Rectangle 4"/>
          <p:cNvSpPr/>
          <p:nvPr/>
        </p:nvSpPr>
        <p:spPr>
          <a:xfrm>
            <a:off x="581025" y="1076325"/>
            <a:ext cx="11029950" cy="19050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C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" y="2557462"/>
            <a:ext cx="5324475" cy="3038475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0550" y="2566987"/>
          <a:ext cx="5305423" cy="30194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20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7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258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3237"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DD4BF"/>
                          </a:solidFill>
                          <a:latin typeface="Plus Jakarta Sans SemiBold"/>
                        </a:rPr>
                        <a:t>Sınıf / Kategori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DD4BF"/>
                          </a:solidFill>
                          <a:latin typeface="Plus Jakarta Sans SemiBold"/>
                        </a:rPr>
                        <a:t>Instances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2DD4BF"/>
                          </a:solidFill>
                          <a:latin typeface="Plus Jakarta Sans SemiBold"/>
                        </a:rPr>
                        <a:t>mAP50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3237"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laptop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955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0.741 (Yüksek)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3237"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cell phone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1,296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0.682 (İyi)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237"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keyboard / mouse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578 / 444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0.548 / 0.582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3237"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bottle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4,285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0.536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3240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Genel Ortalama (all)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7,558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CBD5E1"/>
                          </a:solidFill>
                          <a:latin typeface="Plus Jakarta Sans"/>
                        </a:rPr>
                        <a:t>0.578 mAP50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90550" y="3057525"/>
            <a:ext cx="2262038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852588" y="3057525"/>
            <a:ext cx="131757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70164" y="3057525"/>
            <a:ext cx="172581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72250" y="3033712"/>
            <a:ext cx="503872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BECAD8"/>
                </a:solidFill>
                <a:latin typeface="Plus Jakarta Sans"/>
              </a:rPr>
              <a:t>Yüksek Kesinlik (Precision):</a:t>
            </a:r>
            <a:r>
              <a:rPr sz="1350" b="0" i="0" u="none">
                <a:solidFill>
                  <a:srgbClr val="BECAD8"/>
                </a:solidFill>
                <a:latin typeface="Plus Jakarta Sans"/>
              </a:rPr>
              <a:t> %70.1 oranında başarılı ve doğru tahmin skoru.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72250" y="3690937"/>
            <a:ext cx="503872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BECAD8"/>
                </a:solidFill>
                <a:latin typeface="Plus Jakarta Sans"/>
              </a:rPr>
              <a:t>Veri Dağılımı Etkisi:</a:t>
            </a:r>
            <a:r>
              <a:rPr sz="1350" b="0" i="0" u="none">
                <a:solidFill>
                  <a:srgbClr val="BECAD8"/>
                </a:solidFill>
                <a:latin typeface="Plus Jakarta Sans"/>
              </a:rPr>
              <a:t> Yoğun bottle ve cell phone örnekleri modele güçlü genelleme yeteneği kazandırmıştır.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72250" y="4348162"/>
            <a:ext cx="5038725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BECAD8"/>
                </a:solidFill>
                <a:latin typeface="Plus Jakarta Sans"/>
              </a:rPr>
              <a:t>İyileştirme Önerisi:</a:t>
            </a:r>
            <a:r>
              <a:rPr sz="1350" b="0" i="0" u="none">
                <a:solidFill>
                  <a:srgbClr val="BECAD8"/>
                </a:solidFill>
                <a:latin typeface="Plus Jakarta Sans"/>
              </a:rPr>
              <a:t> Epoch sayısının artırılması ve küçük nesneler için veri artırma (augmentation) uygulanması mAP oranını daha da yukarı taşıyacaktır.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0550" y="3562350"/>
            <a:ext cx="2262038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852588" y="3562350"/>
            <a:ext cx="131757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70164" y="3562350"/>
            <a:ext cx="172581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90550" y="4067175"/>
            <a:ext cx="2262038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852588" y="4067175"/>
            <a:ext cx="131757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170164" y="4067175"/>
            <a:ext cx="172581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90550" y="4572000"/>
            <a:ext cx="2262038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852588" y="4572000"/>
            <a:ext cx="131757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170164" y="4572000"/>
            <a:ext cx="172581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90550" y="5076825"/>
            <a:ext cx="2262038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852588" y="5076825"/>
            <a:ext cx="131757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170164" y="5076825"/>
            <a:ext cx="172581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81025" y="485775"/>
            <a:ext cx="11581447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F8FAFC"/>
                </a:solidFill>
                <a:latin typeface="Plus Jakarta Sans"/>
              </a:rPr>
              <a:t>03 / DEĞERLENDİRME - Model Karşılaştırma ve Performans Analizi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1025" y="1524000"/>
            <a:ext cx="11029950" cy="19050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3052762"/>
            <a:ext cx="171450" cy="180975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3709987"/>
            <a:ext cx="171450" cy="180975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4367212"/>
            <a:ext cx="171450" cy="1809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C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" y="2600771"/>
            <a:ext cx="5324475" cy="250418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494" y="1777398"/>
            <a:ext cx="6279535" cy="33508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72250" y="2938462"/>
            <a:ext cx="503872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BECAD8"/>
                </a:solidFill>
                <a:latin typeface="Plus Jakarta Sans"/>
              </a:rPr>
              <a:t>Modern Koyu Tema:</a:t>
            </a:r>
            <a:r>
              <a:rPr sz="1350" b="0" i="0" u="none">
                <a:solidFill>
                  <a:srgbClr val="BECAD8"/>
                </a:solidFill>
                <a:latin typeface="Plus Jakarta Sans"/>
              </a:rPr>
              <a:t> Göz yormayan, şık ve profesyonel dark mode tasarımı.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72250" y="3595687"/>
            <a:ext cx="503872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 dirty="0" err="1">
                <a:solidFill>
                  <a:srgbClr val="BECAD8"/>
                </a:solidFill>
                <a:latin typeface="Plus Jakarta Sans"/>
              </a:rPr>
              <a:t>Dinamik</a:t>
            </a:r>
            <a:r>
              <a:rPr sz="1350" b="1" i="0" u="none" dirty="0">
                <a:solidFill>
                  <a:srgbClr val="BECAD8"/>
                </a:solidFill>
                <a:latin typeface="Plus Jakarta Sans"/>
              </a:rPr>
              <a:t> </a:t>
            </a:r>
            <a:r>
              <a:rPr sz="1350" b="1" i="0" u="none" dirty="0" err="1">
                <a:solidFill>
                  <a:srgbClr val="BECAD8"/>
                </a:solidFill>
                <a:latin typeface="Plus Jakarta Sans"/>
              </a:rPr>
              <a:t>Güven</a:t>
            </a:r>
            <a:r>
              <a:rPr sz="1350" b="1" i="0" u="none" dirty="0">
                <a:solidFill>
                  <a:srgbClr val="BECAD8"/>
                </a:solidFill>
                <a:latin typeface="Plus Jakarta Sans"/>
              </a:rPr>
              <a:t> </a:t>
            </a:r>
            <a:r>
              <a:rPr sz="1350" b="1" i="0" u="none" dirty="0" err="1">
                <a:solidFill>
                  <a:srgbClr val="BECAD8"/>
                </a:solidFill>
                <a:latin typeface="Plus Jakarta Sans"/>
              </a:rPr>
              <a:t>Eşiği</a:t>
            </a:r>
            <a:r>
              <a:rPr sz="1350" b="1" i="0" u="none" dirty="0">
                <a:solidFill>
                  <a:srgbClr val="BECAD8"/>
                </a:solidFill>
                <a:latin typeface="Plus Jakarta Sans"/>
              </a:rPr>
              <a:t>:</a:t>
            </a:r>
            <a:r>
              <a:rPr sz="1350" b="0" i="0" u="none" dirty="0">
                <a:solidFill>
                  <a:srgbClr val="BECAD8"/>
                </a:solidFill>
                <a:latin typeface="Plus Jakarta Sans"/>
              </a:rPr>
              <a:t> </a:t>
            </a:r>
            <a:r>
              <a:rPr sz="1350" b="0" i="0" u="none" dirty="0" err="1">
                <a:solidFill>
                  <a:srgbClr val="BECAD8"/>
                </a:solidFill>
                <a:latin typeface="Plus Jakarta Sans"/>
              </a:rPr>
              <a:t>Kaydırıcı</a:t>
            </a:r>
            <a:r>
              <a:rPr sz="1350" b="0" i="0" u="none" dirty="0">
                <a:solidFill>
                  <a:srgbClr val="BECAD8"/>
                </a:solidFill>
                <a:latin typeface="Plus Jakarta Sans"/>
              </a:rPr>
              <a:t> (slider) </a:t>
            </a:r>
            <a:r>
              <a:rPr sz="1350" b="0" i="0" u="none" dirty="0" err="1">
                <a:solidFill>
                  <a:srgbClr val="BECAD8"/>
                </a:solidFill>
                <a:latin typeface="Plus Jakarta Sans"/>
              </a:rPr>
              <a:t>yardımıyla</a:t>
            </a:r>
            <a:r>
              <a:rPr sz="1350" b="0" i="0" u="none" dirty="0">
                <a:solidFill>
                  <a:srgbClr val="BECAD8"/>
                </a:solidFill>
                <a:latin typeface="Plus Jakarta Sans"/>
              </a:rPr>
              <a:t> </a:t>
            </a:r>
            <a:r>
              <a:rPr sz="1350" b="0" i="0" u="none" dirty="0" err="1">
                <a:solidFill>
                  <a:srgbClr val="BECAD8"/>
                </a:solidFill>
                <a:latin typeface="Plus Jakarta Sans"/>
              </a:rPr>
              <a:t>hassasiyetin</a:t>
            </a:r>
            <a:r>
              <a:rPr sz="1350" b="0" i="0" u="none" dirty="0">
                <a:solidFill>
                  <a:srgbClr val="BECAD8"/>
                </a:solidFill>
                <a:latin typeface="Plus Jakarta Sans"/>
              </a:rPr>
              <a:t> </a:t>
            </a:r>
            <a:r>
              <a:rPr sz="1350" b="0" i="0" u="none" dirty="0" err="1">
                <a:solidFill>
                  <a:srgbClr val="BECAD8"/>
                </a:solidFill>
                <a:latin typeface="Plus Jakarta Sans"/>
              </a:rPr>
              <a:t>anlık</a:t>
            </a:r>
            <a:r>
              <a:rPr sz="1350" b="0" i="0" u="none" dirty="0">
                <a:solidFill>
                  <a:srgbClr val="BECAD8"/>
                </a:solidFill>
                <a:latin typeface="Plus Jakarta Sans"/>
              </a:rPr>
              <a:t> </a:t>
            </a:r>
            <a:r>
              <a:rPr sz="1350" b="0" i="0" u="none" dirty="0" err="1">
                <a:solidFill>
                  <a:srgbClr val="BECAD8"/>
                </a:solidFill>
                <a:latin typeface="Plus Jakarta Sans"/>
              </a:rPr>
              <a:t>ayarlanabilmesi</a:t>
            </a:r>
            <a:r>
              <a:rPr sz="1350" b="0" i="0" u="none" dirty="0">
                <a:solidFill>
                  <a:srgbClr val="BECAD8"/>
                </a:solidFill>
                <a:latin typeface="Plus Jakarta Sans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72250" y="4252912"/>
            <a:ext cx="503872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BECAD8"/>
                </a:solidFill>
                <a:latin typeface="Plus Jakarta Sans"/>
              </a:rPr>
              <a:t>Anlık Özet Tablosu:</a:t>
            </a:r>
            <a:r>
              <a:rPr sz="1350" b="0" i="0" u="none">
                <a:solidFill>
                  <a:srgbClr val="BECAD8"/>
                </a:solidFill>
                <a:latin typeface="Plus Jakarta Sans"/>
              </a:rPr>
              <a:t> Görsel yüklendiği anda tespit edilen nesne adetlerinin listelenmesi.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1025" y="485775"/>
            <a:ext cx="11581447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F8FAFC"/>
                </a:solidFill>
                <a:latin typeface="Plus Jakarta Sans"/>
              </a:rPr>
              <a:t>Gradio Arayüzü ve Canlı Kullanım</a:t>
            </a:r>
          </a:p>
        </p:txBody>
      </p:sp>
      <p:sp>
        <p:nvSpPr>
          <p:cNvPr id="9" name="Rectangle 8"/>
          <p:cNvSpPr/>
          <p:nvPr/>
        </p:nvSpPr>
        <p:spPr>
          <a:xfrm>
            <a:off x="581025" y="1076325"/>
            <a:ext cx="11029950" cy="19050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219" y="2948264"/>
            <a:ext cx="171450" cy="18097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748" y="3630287"/>
            <a:ext cx="171450" cy="18097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92" y="4288768"/>
            <a:ext cx="171450" cy="1809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C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950731" y="2471737"/>
            <a:ext cx="4290536" cy="866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5400" b="1" i="0" u="none">
                <a:solidFill>
                  <a:srgbClr val="2DD4BF"/>
                </a:solidFill>
                <a:latin typeface="Plus Jakarta Sans"/>
              </a:rPr>
              <a:t>Teşekkürler!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4157662"/>
            <a:ext cx="441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sz="1200" b="0" i="0" u="none">
                <a:solidFill>
                  <a:srgbClr val="BECAD8"/>
                </a:solidFill>
                <a:latin typeface="Plus Jakarta Sans"/>
              </a:rPr>
              <a:t>YOLOv8 Nesne Tespiti Proje Ekibi | Staj Kapanış Sunumu 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473</Words>
  <Application>Microsoft Office PowerPoint</Application>
  <PresentationFormat>Geniş ekran</PresentationFormat>
  <Paragraphs>74</Paragraphs>
  <Slides>9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9</vt:i4>
      </vt:variant>
    </vt:vector>
  </HeadingPairs>
  <TitlesOfParts>
    <vt:vector size="16" baseType="lpstr">
      <vt:lpstr>Aptos</vt:lpstr>
      <vt:lpstr>Arial</vt:lpstr>
      <vt:lpstr>Calibri</vt:lpstr>
      <vt:lpstr>Plus Jakarta Sans</vt:lpstr>
      <vt:lpstr>Plus Jakarta Sans SemiBold</vt:lpstr>
      <vt:lpstr>Segoe UI Symbol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subject/>
  <dc:creator/>
  <cp:keywords/>
  <dc:description>generated using python-pptx</dc:description>
  <cp:lastModifiedBy>user</cp:lastModifiedBy>
  <cp:revision>6</cp:revision>
  <dcterms:created xsi:type="dcterms:W3CDTF">2013-01-27T09:14:16Z</dcterms:created>
  <dcterms:modified xsi:type="dcterms:W3CDTF">2026-09-10T13:22:02Z</dcterms:modified>
  <cp:category/>
</cp:coreProperties>
</file>